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17"/>
  </p:handoutMasterIdLst>
  <p:sldIdLst>
    <p:sldId id="256" r:id="rId2"/>
    <p:sldId id="295" r:id="rId3"/>
    <p:sldId id="290" r:id="rId4"/>
    <p:sldId id="298" r:id="rId5"/>
    <p:sldId id="299" r:id="rId6"/>
    <p:sldId id="300" r:id="rId7"/>
    <p:sldId id="301" r:id="rId8"/>
    <p:sldId id="291" r:id="rId9"/>
    <p:sldId id="292" r:id="rId10"/>
    <p:sldId id="297" r:id="rId11"/>
    <p:sldId id="303" r:id="rId12"/>
    <p:sldId id="293" r:id="rId13"/>
    <p:sldId id="302" r:id="rId14"/>
    <p:sldId id="288" r:id="rId1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10/03/2026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C6E1-9EB7-3B60-1E44-8B6270AB56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61D18D-B2B5-BD09-9637-4513137E2A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300104-5526-1EB2-3076-91854F8E0E2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49260C-A4BB-EE6D-A550-7C68D73636EE}"/>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470227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Elena Fructuoso Valentí y Celia de Juan </a:t>
            </a:r>
            <a:r>
              <a:rPr lang="es-ES" spc="165" dirty="0" err="1">
                <a:latin typeface="Arial"/>
                <a:cs typeface="Arial"/>
              </a:rPr>
              <a:t>Corresa</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
        <p:nvSpPr>
          <p:cNvPr id="2" name="CuadroTexto 1">
            <a:extLst>
              <a:ext uri="{FF2B5EF4-FFF2-40B4-BE49-F238E27FC236}">
                <a16:creationId xmlns:a16="http://schemas.microsoft.com/office/drawing/2014/main" id="{0DC728FF-0F2F-C72B-0989-6D9F9DCE10D1}"/>
              </a:ext>
            </a:extLst>
          </p:cNvPr>
          <p:cNvSpPr txBox="1"/>
          <p:nvPr/>
        </p:nvSpPr>
        <p:spPr>
          <a:xfrm>
            <a:off x="7239000" y="4343400"/>
            <a:ext cx="4800600" cy="369332"/>
          </a:xfrm>
          <a:prstGeom prst="rect">
            <a:avLst/>
          </a:prstGeom>
          <a:noFill/>
        </p:spPr>
        <p:txBody>
          <a:bodyPr wrap="square" rtlCol="0">
            <a:spAutoFit/>
          </a:bodyPr>
          <a:lstStyle/>
          <a:p>
            <a:r>
              <a:rPr lang="es-ES" dirty="0"/>
              <a:t>https://github.com/efruval/cifoin-lab1.git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6A61867-E230-C534-11A4-7A4006E2248B}"/>
              </a:ext>
            </a:extLst>
          </p:cNvPr>
          <p:cNvSpPr>
            <a:spLocks noGrp="1"/>
          </p:cNvSpPr>
          <p:nvPr>
            <p:ph type="sldNum" sz="quarter" idx="7"/>
          </p:nvPr>
        </p:nvSpPr>
        <p:spPr/>
        <p:txBody>
          <a:bodyPr/>
          <a:lstStyle/>
          <a:p>
            <a:fld id="{B6F15528-21DE-4FAA-801E-634DDDAF4B2B}" type="slidenum">
              <a:rPr lang="es-ES" smtClean="0"/>
              <a:t>4</a:t>
            </a:fld>
            <a:endParaRPr lang="es-ES"/>
          </a:p>
        </p:txBody>
      </p:sp>
      <p:pic>
        <p:nvPicPr>
          <p:cNvPr id="4" name="Imagen 3" descr="Gráfico, Gráfico de líneas&#10;&#10;El contenido generado por IA puede ser incorrecto.">
            <a:extLst>
              <a:ext uri="{FF2B5EF4-FFF2-40B4-BE49-F238E27FC236}">
                <a16:creationId xmlns:a16="http://schemas.microsoft.com/office/drawing/2014/main" id="{D5A19D7A-2C42-EB1C-9EC7-889C2A79BC12}"/>
              </a:ext>
            </a:extLst>
          </p:cNvPr>
          <p:cNvPicPr>
            <a:picLocks noChangeAspect="1"/>
          </p:cNvPicPr>
          <p:nvPr/>
        </p:nvPicPr>
        <p:blipFill>
          <a:blip r:embed="rId2"/>
          <a:stretch>
            <a:fillRect/>
          </a:stretch>
        </p:blipFill>
        <p:spPr>
          <a:xfrm>
            <a:off x="442912" y="254424"/>
            <a:ext cx="4229100" cy="3294932"/>
          </a:xfrm>
          <a:prstGeom prst="rect">
            <a:avLst/>
          </a:prstGeom>
        </p:spPr>
      </p:pic>
      <p:pic>
        <p:nvPicPr>
          <p:cNvPr id="6" name="Imagen 5" descr="Gráfico, Gráfico de líneas&#10;&#10;El contenido generado por IA puede ser incorrecto.">
            <a:extLst>
              <a:ext uri="{FF2B5EF4-FFF2-40B4-BE49-F238E27FC236}">
                <a16:creationId xmlns:a16="http://schemas.microsoft.com/office/drawing/2014/main" id="{D1DD00EF-0E19-F695-99A8-B6261652E1CF}"/>
              </a:ext>
            </a:extLst>
          </p:cNvPr>
          <p:cNvPicPr>
            <a:picLocks noChangeAspect="1"/>
          </p:cNvPicPr>
          <p:nvPr/>
        </p:nvPicPr>
        <p:blipFill>
          <a:blip r:embed="rId3"/>
          <a:stretch>
            <a:fillRect/>
          </a:stretch>
        </p:blipFill>
        <p:spPr>
          <a:xfrm>
            <a:off x="533400" y="3620004"/>
            <a:ext cx="4048125" cy="3100836"/>
          </a:xfrm>
          <a:prstGeom prst="rect">
            <a:avLst/>
          </a:prstGeom>
        </p:spPr>
      </p:pic>
      <p:pic>
        <p:nvPicPr>
          <p:cNvPr id="8" name="Imagen 7" descr="Gráfico, Gráfico de líneas&#10;&#10;El contenido generado por IA puede ser incorrecto.">
            <a:extLst>
              <a:ext uri="{FF2B5EF4-FFF2-40B4-BE49-F238E27FC236}">
                <a16:creationId xmlns:a16="http://schemas.microsoft.com/office/drawing/2014/main" id="{A760E99E-6943-824D-9A1E-6A3335E3EFAB}"/>
              </a:ext>
            </a:extLst>
          </p:cNvPr>
          <p:cNvPicPr>
            <a:picLocks noChangeAspect="1"/>
          </p:cNvPicPr>
          <p:nvPr/>
        </p:nvPicPr>
        <p:blipFill>
          <a:blip r:embed="rId4"/>
          <a:stretch>
            <a:fillRect/>
          </a:stretch>
        </p:blipFill>
        <p:spPr>
          <a:xfrm>
            <a:off x="5562600" y="199723"/>
            <a:ext cx="4229100" cy="3196412"/>
          </a:xfrm>
          <a:prstGeom prst="rect">
            <a:avLst/>
          </a:prstGeom>
        </p:spPr>
      </p:pic>
      <p:sp>
        <p:nvSpPr>
          <p:cNvPr id="9" name="object 16">
            <a:extLst>
              <a:ext uri="{FF2B5EF4-FFF2-40B4-BE49-F238E27FC236}">
                <a16:creationId xmlns:a16="http://schemas.microsoft.com/office/drawing/2014/main" id="{426B0C21-E4C0-E509-44FC-8627A50CDEF8}"/>
              </a:ext>
            </a:extLst>
          </p:cNvPr>
          <p:cNvSpPr txBox="1">
            <a:spLocks/>
          </p:cNvSpPr>
          <p:nvPr/>
        </p:nvSpPr>
        <p:spPr>
          <a:xfrm>
            <a:off x="10439400" y="137160"/>
            <a:ext cx="1905000" cy="782265"/>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500" kern="0" spc="-5" dirty="0" err="1">
                <a:solidFill>
                  <a:sysClr val="windowText" lastClr="000000"/>
                </a:solidFill>
                <a:cs typeface="Lucida Sans"/>
              </a:rPr>
              <a:t>Materiales</a:t>
            </a:r>
            <a:br>
              <a:rPr lang="en-US" sz="2500" kern="0" spc="-5" dirty="0">
                <a:solidFill>
                  <a:sysClr val="windowText" lastClr="000000"/>
                </a:solidFill>
                <a:cs typeface="Lucida Sans"/>
              </a:rPr>
            </a:br>
            <a:endParaRPr lang="en-US" sz="2500" kern="0" dirty="0">
              <a:solidFill>
                <a:sysClr val="windowText" lastClr="000000"/>
              </a:solidFill>
              <a:cs typeface="Lucida Sans"/>
            </a:endParaRPr>
          </a:p>
        </p:txBody>
      </p:sp>
      <p:sp>
        <p:nvSpPr>
          <p:cNvPr id="10" name="CuadroTexto 9">
            <a:extLst>
              <a:ext uri="{FF2B5EF4-FFF2-40B4-BE49-F238E27FC236}">
                <a16:creationId xmlns:a16="http://schemas.microsoft.com/office/drawing/2014/main" id="{804D537A-9B18-6633-B058-CDCBD2CF897E}"/>
              </a:ext>
            </a:extLst>
          </p:cNvPr>
          <p:cNvSpPr txBox="1"/>
          <p:nvPr/>
        </p:nvSpPr>
        <p:spPr>
          <a:xfrm>
            <a:off x="5067300" y="3549356"/>
            <a:ext cx="6324600" cy="1323439"/>
          </a:xfrm>
          <a:prstGeom prst="rect">
            <a:avLst/>
          </a:prstGeom>
          <a:noFill/>
        </p:spPr>
        <p:txBody>
          <a:bodyPr wrap="square" rtlCol="0">
            <a:spAutoFit/>
          </a:bodyPr>
          <a:lstStyle/>
          <a:p>
            <a:pPr algn="just"/>
            <a:r>
              <a:rPr lang="es-ES" sz="1600" dirty="0"/>
              <a:t>En este apartado observamos la dependencia del índice de refracción con la longitud de onda para los tres materiales fundamentales de nuestra práctica: Silicio, Nitruro de silicio y Dióxido de Silicio. A partir de las simulaciones obtenidas, observamos que para los tres materiales el índice de refracción disminuye a medida que aumenta la longitud de onda. </a:t>
            </a:r>
          </a:p>
        </p:txBody>
      </p:sp>
      <p:graphicFrame>
        <p:nvGraphicFramePr>
          <p:cNvPr id="5" name="Tabla 4">
            <a:extLst>
              <a:ext uri="{FF2B5EF4-FFF2-40B4-BE49-F238E27FC236}">
                <a16:creationId xmlns:a16="http://schemas.microsoft.com/office/drawing/2014/main" id="{238E5CAE-D8F7-5C82-8D83-DC33ED2E62BF}"/>
              </a:ext>
            </a:extLst>
          </p:cNvPr>
          <p:cNvGraphicFramePr>
            <a:graphicFrameLocks noGrp="1"/>
          </p:cNvGraphicFramePr>
          <p:nvPr>
            <p:extLst>
              <p:ext uri="{D42A27DB-BD31-4B8C-83A1-F6EECF244321}">
                <p14:modId xmlns:p14="http://schemas.microsoft.com/office/powerpoint/2010/main" val="681027935"/>
              </p:ext>
            </p:extLst>
          </p:nvPr>
        </p:nvGraphicFramePr>
        <p:xfrm>
          <a:off x="5638798" y="4907229"/>
          <a:ext cx="4800602" cy="1227620"/>
        </p:xfrm>
        <a:graphic>
          <a:graphicData uri="http://schemas.openxmlformats.org/drawingml/2006/table">
            <a:tbl>
              <a:tblPr>
                <a:tableStyleId>{08FB837D-C827-4EFA-A057-4D05807E0F7C}</a:tableStyleId>
              </a:tblPr>
              <a:tblGrid>
                <a:gridCol w="2400301">
                  <a:extLst>
                    <a:ext uri="{9D8B030D-6E8A-4147-A177-3AD203B41FA5}">
                      <a16:colId xmlns:a16="http://schemas.microsoft.com/office/drawing/2014/main" val="3960357864"/>
                    </a:ext>
                  </a:extLst>
                </a:gridCol>
                <a:gridCol w="2400301">
                  <a:extLst>
                    <a:ext uri="{9D8B030D-6E8A-4147-A177-3AD203B41FA5}">
                      <a16:colId xmlns:a16="http://schemas.microsoft.com/office/drawing/2014/main" val="3461109740"/>
                    </a:ext>
                  </a:extLst>
                </a:gridCol>
              </a:tblGrid>
              <a:tr h="306905">
                <a:tc>
                  <a:txBody>
                    <a:bodyPr/>
                    <a:lstStyle/>
                    <a:p>
                      <a:pPr rtl="0">
                        <a:buNone/>
                      </a:pPr>
                      <a:r>
                        <a:rPr lang="es-ES" sz="1200" b="1" dirty="0">
                          <a:solidFill>
                            <a:srgbClr val="1F1F1F"/>
                          </a:solidFill>
                          <a:effectLst/>
                        </a:rPr>
                        <a:t>Material</a:t>
                      </a:r>
                      <a:endParaRPr lang="es-ES" sz="1200" dirty="0">
                        <a:solidFill>
                          <a:srgbClr val="1F1F1F"/>
                        </a:solidFill>
                        <a:effectLst/>
                        <a:latin typeface="+mn-lt"/>
                      </a:endParaRPr>
                    </a:p>
                  </a:txBody>
                  <a:tcPr marT="60960" marB="60960" anchor="ctr"/>
                </a:tc>
                <a:tc>
                  <a:txBody>
                    <a:bodyPr/>
                    <a:lstStyle/>
                    <a:p>
                      <a:pPr rtl="0">
                        <a:buNone/>
                      </a:pPr>
                      <a:r>
                        <a:rPr lang="es-ES" sz="1200" b="1" dirty="0">
                          <a:solidFill>
                            <a:srgbClr val="1F1F1F"/>
                          </a:solidFill>
                          <a:effectLst/>
                        </a:rPr>
                        <a:t>Índice de refracción (n) a 1.55 µm</a:t>
                      </a:r>
                      <a:endParaRPr lang="es-ES" sz="1200" dirty="0">
                        <a:solidFill>
                          <a:srgbClr val="1F1F1F"/>
                        </a:solidFill>
                        <a:effectLst/>
                        <a:latin typeface="+mn-lt"/>
                      </a:endParaRPr>
                    </a:p>
                  </a:txBody>
                  <a:tcPr marT="60960" marB="60960" anchor="ctr"/>
                </a:tc>
                <a:extLst>
                  <a:ext uri="{0D108BD9-81ED-4DB2-BD59-A6C34878D82A}">
                    <a16:rowId xmlns:a16="http://schemas.microsoft.com/office/drawing/2014/main" val="3100886342"/>
                  </a:ext>
                </a:extLst>
              </a:tr>
              <a:tr h="306905">
                <a:tc>
                  <a:txBody>
                    <a:bodyPr/>
                    <a:lstStyle/>
                    <a:p>
                      <a:pPr rtl="0">
                        <a:buNone/>
                      </a:pPr>
                      <a:r>
                        <a:rPr lang="es-ES" sz="1200" b="0" dirty="0">
                          <a:solidFill>
                            <a:srgbClr val="1F1F1F"/>
                          </a:solidFill>
                          <a:effectLst/>
                        </a:rPr>
                        <a:t>Silicio</a:t>
                      </a:r>
                      <a:endParaRPr lang="es-ES" sz="1200" b="0" dirty="0">
                        <a:solidFill>
                          <a:srgbClr val="1F1F1F"/>
                        </a:solidFill>
                        <a:effectLst/>
                        <a:latin typeface="+mn-lt"/>
                      </a:endParaRPr>
                    </a:p>
                  </a:txBody>
                  <a:tcPr marT="60960" marB="60960" anchor="ctr"/>
                </a:tc>
                <a:tc>
                  <a:txBody>
                    <a:bodyPr/>
                    <a:lstStyle/>
                    <a:p>
                      <a:pPr rtl="0">
                        <a:buNone/>
                      </a:pPr>
                      <a:r>
                        <a:rPr lang="es-ES" sz="1200" dirty="0">
                          <a:solidFill>
                            <a:srgbClr val="1F1F1F"/>
                          </a:solidFill>
                          <a:effectLst/>
                        </a:rPr>
                        <a:t>3.475</a:t>
                      </a:r>
                      <a:endParaRPr lang="es-ES" sz="1200" dirty="0">
                        <a:solidFill>
                          <a:srgbClr val="1F1F1F"/>
                        </a:solidFill>
                        <a:effectLst/>
                        <a:latin typeface="+mn-lt"/>
                      </a:endParaRPr>
                    </a:p>
                  </a:txBody>
                  <a:tcPr marT="60960" marB="60960" anchor="ctr"/>
                </a:tc>
                <a:extLst>
                  <a:ext uri="{0D108BD9-81ED-4DB2-BD59-A6C34878D82A}">
                    <a16:rowId xmlns:a16="http://schemas.microsoft.com/office/drawing/2014/main" val="440112715"/>
                  </a:ext>
                </a:extLst>
              </a:tr>
              <a:tr h="306905">
                <a:tc>
                  <a:txBody>
                    <a:bodyPr/>
                    <a:lstStyle/>
                    <a:p>
                      <a:pPr rtl="0">
                        <a:buNone/>
                      </a:pPr>
                      <a:r>
                        <a:rPr lang="es-ES" sz="1200" b="0" dirty="0">
                          <a:solidFill>
                            <a:srgbClr val="1F1F1F"/>
                          </a:solidFill>
                          <a:effectLst/>
                        </a:rPr>
                        <a:t>Nitruro de Silicio</a:t>
                      </a:r>
                      <a:endParaRPr lang="es-ES" sz="1200" b="0" dirty="0">
                        <a:solidFill>
                          <a:srgbClr val="1F1F1F"/>
                        </a:solidFill>
                        <a:effectLst/>
                        <a:latin typeface="+mn-lt"/>
                      </a:endParaRPr>
                    </a:p>
                  </a:txBody>
                  <a:tcPr marT="60960" marB="60960" anchor="ctr"/>
                </a:tc>
                <a:tc>
                  <a:txBody>
                    <a:bodyPr/>
                    <a:lstStyle/>
                    <a:p>
                      <a:pPr rtl="0">
                        <a:buNone/>
                      </a:pPr>
                      <a:r>
                        <a:rPr lang="es-ES" sz="1200" dirty="0">
                          <a:solidFill>
                            <a:srgbClr val="1F1F1F"/>
                          </a:solidFill>
                          <a:effectLst/>
                        </a:rPr>
                        <a:t>1.998</a:t>
                      </a:r>
                      <a:endParaRPr lang="es-ES" sz="1200" dirty="0">
                        <a:solidFill>
                          <a:srgbClr val="1F1F1F"/>
                        </a:solidFill>
                        <a:effectLst/>
                        <a:latin typeface="+mn-lt"/>
                      </a:endParaRPr>
                    </a:p>
                  </a:txBody>
                  <a:tcPr marT="60960" marB="60960" anchor="ctr"/>
                </a:tc>
                <a:extLst>
                  <a:ext uri="{0D108BD9-81ED-4DB2-BD59-A6C34878D82A}">
                    <a16:rowId xmlns:a16="http://schemas.microsoft.com/office/drawing/2014/main" val="2297097488"/>
                  </a:ext>
                </a:extLst>
              </a:tr>
              <a:tr h="306905">
                <a:tc>
                  <a:txBody>
                    <a:bodyPr/>
                    <a:lstStyle/>
                    <a:p>
                      <a:pPr rtl="0">
                        <a:buNone/>
                      </a:pPr>
                      <a:r>
                        <a:rPr lang="es-ES" sz="1200" b="0" dirty="0">
                          <a:solidFill>
                            <a:srgbClr val="1F1F1F"/>
                          </a:solidFill>
                          <a:effectLst/>
                        </a:rPr>
                        <a:t>Dióxido de Silicio</a:t>
                      </a:r>
                      <a:endParaRPr lang="es-ES" sz="1200" b="0" dirty="0">
                        <a:solidFill>
                          <a:srgbClr val="1F1F1F"/>
                        </a:solidFill>
                        <a:effectLst/>
                        <a:latin typeface="+mn-lt"/>
                      </a:endParaRPr>
                    </a:p>
                  </a:txBody>
                  <a:tcPr marT="60960" marB="60960" anchor="ctr"/>
                </a:tc>
                <a:tc>
                  <a:txBody>
                    <a:bodyPr/>
                    <a:lstStyle/>
                    <a:p>
                      <a:pPr rtl="0">
                        <a:buNone/>
                      </a:pPr>
                      <a:r>
                        <a:rPr lang="es-ES" sz="1200" dirty="0">
                          <a:solidFill>
                            <a:srgbClr val="1F1F1F"/>
                          </a:solidFill>
                          <a:effectLst/>
                        </a:rPr>
                        <a:t>1.457</a:t>
                      </a:r>
                      <a:endParaRPr lang="es-ES" sz="1200" dirty="0">
                        <a:solidFill>
                          <a:srgbClr val="1F1F1F"/>
                        </a:solidFill>
                        <a:effectLst/>
                        <a:latin typeface="+mn-lt"/>
                      </a:endParaRPr>
                    </a:p>
                  </a:txBody>
                  <a:tcPr marT="60960" marB="60960" anchor="ctr"/>
                </a:tc>
                <a:extLst>
                  <a:ext uri="{0D108BD9-81ED-4DB2-BD59-A6C34878D82A}">
                    <a16:rowId xmlns:a16="http://schemas.microsoft.com/office/drawing/2014/main" val="296313339"/>
                  </a:ext>
                </a:extLst>
              </a:tr>
            </a:tbl>
          </a:graphicData>
        </a:graphic>
      </p:graphicFrame>
    </p:spTree>
    <p:extLst>
      <p:ext uri="{BB962C8B-B14F-4D97-AF65-F5344CB8AC3E}">
        <p14:creationId xmlns:p14="http://schemas.microsoft.com/office/powerpoint/2010/main" val="733260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E85333-99DD-EC6A-10F3-5C897B3E3D92}"/>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4" name="Imagen 3" descr="Gráfico&#10;&#10;El contenido generado por IA puede ser incorrecto.">
            <a:extLst>
              <a:ext uri="{FF2B5EF4-FFF2-40B4-BE49-F238E27FC236}">
                <a16:creationId xmlns:a16="http://schemas.microsoft.com/office/drawing/2014/main" id="{C46AB71E-21B4-AA79-DED8-709797AF83DF}"/>
              </a:ext>
            </a:extLst>
          </p:cNvPr>
          <p:cNvPicPr>
            <a:picLocks noChangeAspect="1"/>
          </p:cNvPicPr>
          <p:nvPr/>
        </p:nvPicPr>
        <p:blipFill>
          <a:blip r:embed="rId2"/>
          <a:stretch>
            <a:fillRect/>
          </a:stretch>
        </p:blipFill>
        <p:spPr>
          <a:xfrm>
            <a:off x="304800" y="381000"/>
            <a:ext cx="4377831" cy="3200400"/>
          </a:xfrm>
          <a:prstGeom prst="rect">
            <a:avLst/>
          </a:prstGeom>
        </p:spPr>
      </p:pic>
      <p:sp>
        <p:nvSpPr>
          <p:cNvPr id="5" name="CuadroTexto 4">
            <a:extLst>
              <a:ext uri="{FF2B5EF4-FFF2-40B4-BE49-F238E27FC236}">
                <a16:creationId xmlns:a16="http://schemas.microsoft.com/office/drawing/2014/main" id="{3028B662-571A-3355-D0FA-FEB036DB8E13}"/>
              </a:ext>
            </a:extLst>
          </p:cNvPr>
          <p:cNvSpPr txBox="1"/>
          <p:nvPr/>
        </p:nvSpPr>
        <p:spPr>
          <a:xfrm>
            <a:off x="4876800" y="828257"/>
            <a:ext cx="6858000" cy="2123658"/>
          </a:xfrm>
          <a:prstGeom prst="rect">
            <a:avLst/>
          </a:prstGeom>
          <a:noFill/>
        </p:spPr>
        <p:txBody>
          <a:bodyPr wrap="square" rtlCol="0">
            <a:spAutoFit/>
          </a:bodyPr>
          <a:lstStyle/>
          <a:p>
            <a:pPr algn="just"/>
            <a:r>
              <a:rPr lang="es-ES" sz="1600" dirty="0"/>
              <a:t>Mediante la función </a:t>
            </a:r>
            <a:r>
              <a:rPr lang="es-ES" sz="1600" dirty="0" err="1"/>
              <a:t>plot_index</a:t>
            </a:r>
            <a:r>
              <a:rPr lang="es-ES" sz="1600" dirty="0"/>
              <a:t>() podemos verificar la guía diseñada. En la gráfica se observa el núcleo centrado en el eje X y en el eje Y. Con la escala de colores confirmamos los valores de diseños para una longitud de onda de 1,55 </a:t>
            </a:r>
            <a:r>
              <a:rPr lang="es-ES" sz="1600" dirty="0" err="1"/>
              <a:t>um</a:t>
            </a:r>
            <a:r>
              <a:rPr lang="es-ES" sz="1600" dirty="0"/>
              <a:t>:</a:t>
            </a:r>
          </a:p>
          <a:p>
            <a:pPr marL="285750" indent="-285750" algn="just">
              <a:buFontTx/>
              <a:buChar char="-"/>
            </a:pPr>
            <a:r>
              <a:rPr lang="es-ES" sz="1600" dirty="0"/>
              <a:t>El núcleo de color amarillo presenta un índice de refracción de aproximadamente 2, lo cual cuadra con el </a:t>
            </a:r>
            <a:r>
              <a:rPr lang="es-ES" sz="1600" dirty="0" err="1"/>
              <a:t>SiN</a:t>
            </a:r>
            <a:r>
              <a:rPr lang="es-ES" sz="1600" dirty="0"/>
              <a:t> analizado previamente.</a:t>
            </a:r>
          </a:p>
          <a:p>
            <a:pPr marL="285750" indent="-285750" algn="just">
              <a:buFontTx/>
              <a:buChar char="-"/>
            </a:pPr>
            <a:r>
              <a:rPr lang="es-ES" sz="1600" dirty="0"/>
              <a:t>El color morado que rodea el núcleo muestra un índice de 1.45 aproximadamente, correspondiente al Dióxido de Silicio.</a:t>
            </a:r>
          </a:p>
        </p:txBody>
      </p:sp>
      <p:sp>
        <p:nvSpPr>
          <p:cNvPr id="3" name="CuadroTexto 2">
            <a:extLst>
              <a:ext uri="{FF2B5EF4-FFF2-40B4-BE49-F238E27FC236}">
                <a16:creationId xmlns:a16="http://schemas.microsoft.com/office/drawing/2014/main" id="{C5F39D12-9522-8AA7-2840-043BD5ABD52B}"/>
              </a:ext>
            </a:extLst>
          </p:cNvPr>
          <p:cNvSpPr txBox="1"/>
          <p:nvPr/>
        </p:nvSpPr>
        <p:spPr>
          <a:xfrm>
            <a:off x="606490" y="3605091"/>
            <a:ext cx="6858000" cy="615553"/>
          </a:xfrm>
          <a:prstGeom prst="rect">
            <a:avLst/>
          </a:prstGeom>
          <a:solidFill>
            <a:schemeClr val="bg1"/>
          </a:solidFill>
        </p:spPr>
        <p:txBody>
          <a:bodyPr wrap="square" rtlCol="0">
            <a:spAutoFit/>
          </a:bodyPr>
          <a:lstStyle/>
          <a:p>
            <a:pPr algn="just"/>
            <a:r>
              <a:rPr lang="es-ES" dirty="0"/>
              <a:t>Resultados</a:t>
            </a:r>
            <a:r>
              <a:rPr lang="es-ES" sz="1600" dirty="0"/>
              <a:t> </a:t>
            </a:r>
            <a:r>
              <a:rPr lang="es-ES" dirty="0"/>
              <a:t>numéricos</a:t>
            </a:r>
            <a:r>
              <a:rPr lang="es-ES" sz="1600" dirty="0"/>
              <a:t>:</a:t>
            </a:r>
          </a:p>
          <a:p>
            <a:pPr algn="just"/>
            <a:endParaRPr lang="es-ES" sz="1600" dirty="0"/>
          </a:p>
        </p:txBody>
      </p:sp>
      <p:graphicFrame>
        <p:nvGraphicFramePr>
          <p:cNvPr id="6" name="Tabla 5">
            <a:extLst>
              <a:ext uri="{FF2B5EF4-FFF2-40B4-BE49-F238E27FC236}">
                <a16:creationId xmlns:a16="http://schemas.microsoft.com/office/drawing/2014/main" id="{6ABB8C0D-9A9E-1907-C79F-3CB739F26F47}"/>
              </a:ext>
            </a:extLst>
          </p:cNvPr>
          <p:cNvGraphicFramePr>
            <a:graphicFrameLocks noGrp="1"/>
          </p:cNvGraphicFramePr>
          <p:nvPr>
            <p:extLst>
              <p:ext uri="{D42A27DB-BD31-4B8C-83A1-F6EECF244321}">
                <p14:modId xmlns:p14="http://schemas.microsoft.com/office/powerpoint/2010/main" val="3305730066"/>
              </p:ext>
            </p:extLst>
          </p:nvPr>
        </p:nvGraphicFramePr>
        <p:xfrm>
          <a:off x="606490" y="4048543"/>
          <a:ext cx="10972800" cy="1981200"/>
        </p:xfrm>
        <a:graphic>
          <a:graphicData uri="http://schemas.openxmlformats.org/drawingml/2006/table">
            <a:tbl>
              <a:tblPr>
                <a:tableStyleId>{08FB837D-C827-4EFA-A057-4D05807E0F7C}</a:tableStyleId>
              </a:tblPr>
              <a:tblGrid>
                <a:gridCol w="2194560">
                  <a:extLst>
                    <a:ext uri="{9D8B030D-6E8A-4147-A177-3AD203B41FA5}">
                      <a16:colId xmlns:a16="http://schemas.microsoft.com/office/drawing/2014/main" val="3178066418"/>
                    </a:ext>
                  </a:extLst>
                </a:gridCol>
                <a:gridCol w="2194560">
                  <a:extLst>
                    <a:ext uri="{9D8B030D-6E8A-4147-A177-3AD203B41FA5}">
                      <a16:colId xmlns:a16="http://schemas.microsoft.com/office/drawing/2014/main" val="2605225231"/>
                    </a:ext>
                  </a:extLst>
                </a:gridCol>
                <a:gridCol w="2194560">
                  <a:extLst>
                    <a:ext uri="{9D8B030D-6E8A-4147-A177-3AD203B41FA5}">
                      <a16:colId xmlns:a16="http://schemas.microsoft.com/office/drawing/2014/main" val="4121915618"/>
                    </a:ext>
                  </a:extLst>
                </a:gridCol>
                <a:gridCol w="2194560">
                  <a:extLst>
                    <a:ext uri="{9D8B030D-6E8A-4147-A177-3AD203B41FA5}">
                      <a16:colId xmlns:a16="http://schemas.microsoft.com/office/drawing/2014/main" val="4242369877"/>
                    </a:ext>
                  </a:extLst>
                </a:gridCol>
                <a:gridCol w="2194560">
                  <a:extLst>
                    <a:ext uri="{9D8B030D-6E8A-4147-A177-3AD203B41FA5}">
                      <a16:colId xmlns:a16="http://schemas.microsoft.com/office/drawing/2014/main" val="545493125"/>
                    </a:ext>
                  </a:extLst>
                </a:gridCol>
              </a:tblGrid>
              <a:tr h="0">
                <a:tc>
                  <a:txBody>
                    <a:bodyPr/>
                    <a:lstStyle/>
                    <a:p>
                      <a:pPr rtl="0">
                        <a:buNone/>
                      </a:pPr>
                      <a:r>
                        <a:rPr lang="es-ES" b="1">
                          <a:solidFill>
                            <a:srgbClr val="1F1F1F"/>
                          </a:solidFill>
                          <a:effectLst/>
                        </a:rPr>
                        <a:t>Índice de Modo</a:t>
                      </a:r>
                      <a:endParaRPr lang="es-ES">
                        <a:solidFill>
                          <a:srgbClr val="1F1F1F"/>
                        </a:solidFill>
                        <a:effectLst/>
                        <a:latin typeface="Google Sans Text"/>
                      </a:endParaRPr>
                    </a:p>
                  </a:txBody>
                  <a:tcPr marT="60960" marB="60960" anchor="ctr"/>
                </a:tc>
                <a:tc>
                  <a:txBody>
                    <a:bodyPr/>
                    <a:lstStyle/>
                    <a:p>
                      <a:pPr rtl="0">
                        <a:buNone/>
                      </a:pPr>
                      <a:r>
                        <a:rPr lang="es-ES" b="1">
                          <a:solidFill>
                            <a:srgbClr val="1F1F1F"/>
                          </a:solidFill>
                          <a:effectLst/>
                        </a:rPr>
                        <a:t>neff​ (Parte Real)</a:t>
                      </a:r>
                      <a:endParaRPr lang="es-ES">
                        <a:solidFill>
                          <a:srgbClr val="1F1F1F"/>
                        </a:solidFill>
                        <a:effectLst/>
                        <a:latin typeface="Google Sans Text"/>
                      </a:endParaRPr>
                    </a:p>
                  </a:txBody>
                  <a:tcPr marT="60960" marB="60960" anchor="ctr"/>
                </a:tc>
                <a:tc>
                  <a:txBody>
                    <a:bodyPr/>
                    <a:lstStyle/>
                    <a:p>
                      <a:pPr rtl="0">
                        <a:buNone/>
                      </a:pPr>
                      <a:r>
                        <a:rPr lang="es-ES" b="1">
                          <a:solidFill>
                            <a:srgbClr val="1F1F1F"/>
                          </a:solidFill>
                          <a:effectLst/>
                        </a:rPr>
                        <a:t>TE Fraction</a:t>
                      </a:r>
                      <a:endParaRPr lang="es-ES">
                        <a:solidFill>
                          <a:srgbClr val="1F1F1F"/>
                        </a:solidFill>
                        <a:effectLst/>
                        <a:latin typeface="Google Sans Text"/>
                      </a:endParaRPr>
                    </a:p>
                  </a:txBody>
                  <a:tcPr marT="60960" marB="60960" anchor="ctr"/>
                </a:tc>
                <a:tc>
                  <a:txBody>
                    <a:bodyPr/>
                    <a:lstStyle/>
                    <a:p>
                      <a:pPr rtl="0">
                        <a:buNone/>
                      </a:pPr>
                      <a:r>
                        <a:rPr lang="es-ES" b="1">
                          <a:solidFill>
                            <a:srgbClr val="1F1F1F"/>
                          </a:solidFill>
                          <a:effectLst/>
                        </a:rPr>
                        <a:t>TM Fraction</a:t>
                      </a:r>
                      <a:endParaRPr lang="es-ES">
                        <a:solidFill>
                          <a:srgbClr val="1F1F1F"/>
                        </a:solidFill>
                        <a:effectLst/>
                        <a:latin typeface="Google Sans Text"/>
                      </a:endParaRPr>
                    </a:p>
                  </a:txBody>
                  <a:tcPr marT="60960" marB="60960" anchor="ctr"/>
                </a:tc>
                <a:tc>
                  <a:txBody>
                    <a:bodyPr/>
                    <a:lstStyle/>
                    <a:p>
                      <a:pPr rtl="0">
                        <a:buNone/>
                      </a:pPr>
                      <a:r>
                        <a:rPr lang="es-ES" b="1">
                          <a:solidFill>
                            <a:srgbClr val="1F1F1F"/>
                          </a:solidFill>
                          <a:effectLst/>
                        </a:rPr>
                        <a:t>Identificación Física</a:t>
                      </a:r>
                      <a:endParaRPr lang="es-ES">
                        <a:solidFill>
                          <a:srgbClr val="1F1F1F"/>
                        </a:solidFill>
                        <a:effectLst/>
                        <a:latin typeface="Google Sans Text"/>
                      </a:endParaRPr>
                    </a:p>
                  </a:txBody>
                  <a:tcPr marT="60960" marB="60960" anchor="ctr"/>
                </a:tc>
                <a:extLst>
                  <a:ext uri="{0D108BD9-81ED-4DB2-BD59-A6C34878D82A}">
                    <a16:rowId xmlns:a16="http://schemas.microsoft.com/office/drawing/2014/main" val="1317482607"/>
                  </a:ext>
                </a:extLst>
              </a:tr>
              <a:tr h="0">
                <a:tc>
                  <a:txBody>
                    <a:bodyPr/>
                    <a:lstStyle/>
                    <a:p>
                      <a:pPr rtl="0">
                        <a:buNone/>
                      </a:pPr>
                      <a:r>
                        <a:rPr lang="es-ES" b="0">
                          <a:solidFill>
                            <a:srgbClr val="1F1F1F"/>
                          </a:solidFill>
                          <a:effectLst/>
                        </a:rPr>
                        <a:t>Modo 0</a:t>
                      </a:r>
                      <a:endParaRPr lang="es-ES" b="0">
                        <a:solidFill>
                          <a:srgbClr val="1F1F1F"/>
                        </a:solidFill>
                        <a:effectLst/>
                        <a:latin typeface="Google Sans Text"/>
                      </a:endParaRPr>
                    </a:p>
                  </a:txBody>
                  <a:tcPr marT="60960" marB="60960" anchor="ctr"/>
                </a:tc>
                <a:tc>
                  <a:txBody>
                    <a:bodyPr/>
                    <a:lstStyle/>
                    <a:p>
                      <a:pPr rtl="0">
                        <a:buNone/>
                      </a:pPr>
                      <a:r>
                        <a:rPr lang="es-ES" b="0">
                          <a:solidFill>
                            <a:srgbClr val="1F1F1F"/>
                          </a:solidFill>
                          <a:effectLst/>
                        </a:rPr>
                        <a:t>1.6052</a:t>
                      </a:r>
                      <a:endParaRPr lang="es-ES" b="0">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99.50%</a:t>
                      </a:r>
                      <a:endParaRPr lang="es-ES">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0.50%</a:t>
                      </a:r>
                      <a:endParaRPr lang="es-ES">
                        <a:solidFill>
                          <a:srgbClr val="1F1F1F"/>
                        </a:solidFill>
                        <a:effectLst/>
                        <a:latin typeface="Google Sans Text"/>
                      </a:endParaRPr>
                    </a:p>
                  </a:txBody>
                  <a:tcPr marT="60960" marB="60960" anchor="ctr"/>
                </a:tc>
                <a:tc>
                  <a:txBody>
                    <a:bodyPr/>
                    <a:lstStyle/>
                    <a:p>
                      <a:pPr rtl="0">
                        <a:buNone/>
                      </a:pPr>
                      <a:r>
                        <a:rPr lang="es-ES" b="0" dirty="0">
                          <a:solidFill>
                            <a:srgbClr val="1F1F1F"/>
                          </a:solidFill>
                          <a:effectLst/>
                        </a:rPr>
                        <a:t>Fundamental TE</a:t>
                      </a:r>
                      <a:endParaRPr lang="es-ES" b="0" dirty="0">
                        <a:solidFill>
                          <a:srgbClr val="1F1F1F"/>
                        </a:solidFill>
                        <a:effectLst/>
                        <a:latin typeface="Google Sans Text"/>
                      </a:endParaRPr>
                    </a:p>
                  </a:txBody>
                  <a:tcPr marT="60960" marB="60960" anchor="ctr"/>
                </a:tc>
                <a:extLst>
                  <a:ext uri="{0D108BD9-81ED-4DB2-BD59-A6C34878D82A}">
                    <a16:rowId xmlns:a16="http://schemas.microsoft.com/office/drawing/2014/main" val="3385593503"/>
                  </a:ext>
                </a:extLst>
              </a:tr>
              <a:tr h="0">
                <a:tc>
                  <a:txBody>
                    <a:bodyPr/>
                    <a:lstStyle/>
                    <a:p>
                      <a:pPr rtl="0">
                        <a:buNone/>
                      </a:pPr>
                      <a:r>
                        <a:rPr lang="es-ES" b="0">
                          <a:solidFill>
                            <a:srgbClr val="1F1F1F"/>
                          </a:solidFill>
                          <a:effectLst/>
                        </a:rPr>
                        <a:t>Modo 1</a:t>
                      </a:r>
                      <a:endParaRPr lang="es-ES" b="0">
                        <a:solidFill>
                          <a:srgbClr val="1F1F1F"/>
                        </a:solidFill>
                        <a:effectLst/>
                        <a:latin typeface="Google Sans Text"/>
                      </a:endParaRPr>
                    </a:p>
                  </a:txBody>
                  <a:tcPr marT="60960" marB="60960" anchor="ctr"/>
                </a:tc>
                <a:tc>
                  <a:txBody>
                    <a:bodyPr/>
                    <a:lstStyle/>
                    <a:p>
                      <a:pPr rtl="0">
                        <a:buNone/>
                      </a:pPr>
                      <a:r>
                        <a:rPr lang="es-ES" b="0">
                          <a:solidFill>
                            <a:srgbClr val="1F1F1F"/>
                          </a:solidFill>
                          <a:effectLst/>
                        </a:rPr>
                        <a:t>1.5283</a:t>
                      </a:r>
                      <a:endParaRPr lang="es-ES" b="0">
                        <a:solidFill>
                          <a:srgbClr val="1F1F1F"/>
                        </a:solidFill>
                        <a:effectLst/>
                        <a:latin typeface="Google Sans Text"/>
                      </a:endParaRPr>
                    </a:p>
                  </a:txBody>
                  <a:tcPr marT="60960" marB="60960" anchor="ctr"/>
                </a:tc>
                <a:tc>
                  <a:txBody>
                    <a:bodyPr/>
                    <a:lstStyle/>
                    <a:p>
                      <a:pPr rtl="0">
                        <a:buNone/>
                      </a:pPr>
                      <a:r>
                        <a:rPr lang="es-ES" dirty="0">
                          <a:solidFill>
                            <a:srgbClr val="1F1F1F"/>
                          </a:solidFill>
                          <a:effectLst/>
                        </a:rPr>
                        <a:t>1.00%</a:t>
                      </a:r>
                      <a:endParaRPr lang="es-ES" dirty="0">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99.00%</a:t>
                      </a:r>
                      <a:endParaRPr lang="es-ES">
                        <a:solidFill>
                          <a:srgbClr val="1F1F1F"/>
                        </a:solidFill>
                        <a:effectLst/>
                        <a:latin typeface="Google Sans Text"/>
                      </a:endParaRPr>
                    </a:p>
                  </a:txBody>
                  <a:tcPr marT="60960" marB="60960" anchor="ctr"/>
                </a:tc>
                <a:tc>
                  <a:txBody>
                    <a:bodyPr/>
                    <a:lstStyle/>
                    <a:p>
                      <a:pPr rtl="0">
                        <a:buNone/>
                      </a:pPr>
                      <a:r>
                        <a:rPr lang="es-ES" b="0" dirty="0">
                          <a:solidFill>
                            <a:srgbClr val="1F1F1F"/>
                          </a:solidFill>
                          <a:effectLst/>
                        </a:rPr>
                        <a:t>Fundamental TM</a:t>
                      </a:r>
                      <a:endParaRPr lang="es-ES" b="0" dirty="0">
                        <a:solidFill>
                          <a:srgbClr val="1F1F1F"/>
                        </a:solidFill>
                        <a:effectLst/>
                        <a:latin typeface="Google Sans Text"/>
                      </a:endParaRPr>
                    </a:p>
                  </a:txBody>
                  <a:tcPr marT="60960" marB="60960" anchor="ctr"/>
                </a:tc>
                <a:extLst>
                  <a:ext uri="{0D108BD9-81ED-4DB2-BD59-A6C34878D82A}">
                    <a16:rowId xmlns:a16="http://schemas.microsoft.com/office/drawing/2014/main" val="3580368920"/>
                  </a:ext>
                </a:extLst>
              </a:tr>
              <a:tr h="0">
                <a:tc>
                  <a:txBody>
                    <a:bodyPr/>
                    <a:lstStyle/>
                    <a:p>
                      <a:pPr rtl="0">
                        <a:buNone/>
                      </a:pPr>
                      <a:r>
                        <a:rPr lang="es-ES" b="0">
                          <a:solidFill>
                            <a:srgbClr val="1F1F1F"/>
                          </a:solidFill>
                          <a:effectLst/>
                        </a:rPr>
                        <a:t>Modo 2</a:t>
                      </a:r>
                      <a:endParaRPr lang="es-ES" b="0">
                        <a:solidFill>
                          <a:srgbClr val="1F1F1F"/>
                        </a:solidFill>
                        <a:effectLst/>
                        <a:latin typeface="Google Sans Text"/>
                      </a:endParaRPr>
                    </a:p>
                  </a:txBody>
                  <a:tcPr marT="60960" marB="60960" anchor="ctr"/>
                </a:tc>
                <a:tc>
                  <a:txBody>
                    <a:bodyPr/>
                    <a:lstStyle/>
                    <a:p>
                      <a:pPr rtl="0">
                        <a:buNone/>
                      </a:pPr>
                      <a:r>
                        <a:rPr lang="es-ES" b="0">
                          <a:solidFill>
                            <a:srgbClr val="1F1F1F"/>
                          </a:solidFill>
                          <a:effectLst/>
                        </a:rPr>
                        <a:t>1.4507</a:t>
                      </a:r>
                      <a:endParaRPr lang="es-ES" b="0">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96.26%</a:t>
                      </a:r>
                      <a:endParaRPr lang="es-ES">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3.74%</a:t>
                      </a:r>
                      <a:endParaRPr lang="es-ES">
                        <a:solidFill>
                          <a:srgbClr val="1F1F1F"/>
                        </a:solidFill>
                        <a:effectLst/>
                        <a:latin typeface="Google Sans Text"/>
                      </a:endParaRPr>
                    </a:p>
                  </a:txBody>
                  <a:tcPr marT="60960" marB="60960" anchor="ctr"/>
                </a:tc>
                <a:tc>
                  <a:txBody>
                    <a:bodyPr/>
                    <a:lstStyle/>
                    <a:p>
                      <a:pPr rtl="0">
                        <a:buNone/>
                      </a:pPr>
                      <a:r>
                        <a:rPr lang="es-ES" dirty="0">
                          <a:solidFill>
                            <a:srgbClr val="1F1F1F"/>
                          </a:solidFill>
                          <a:effectLst/>
                        </a:rPr>
                        <a:t>Superior TE </a:t>
                      </a:r>
                      <a:endParaRPr lang="es-ES" dirty="0">
                        <a:solidFill>
                          <a:srgbClr val="1F1F1F"/>
                        </a:solidFill>
                        <a:effectLst/>
                        <a:latin typeface="Google Sans Text"/>
                      </a:endParaRPr>
                    </a:p>
                  </a:txBody>
                  <a:tcPr marT="60960" marB="60960" anchor="ctr"/>
                </a:tc>
                <a:extLst>
                  <a:ext uri="{0D108BD9-81ED-4DB2-BD59-A6C34878D82A}">
                    <a16:rowId xmlns:a16="http://schemas.microsoft.com/office/drawing/2014/main" val="59021480"/>
                  </a:ext>
                </a:extLst>
              </a:tr>
              <a:tr h="0">
                <a:tc>
                  <a:txBody>
                    <a:bodyPr/>
                    <a:lstStyle/>
                    <a:p>
                      <a:pPr rtl="0">
                        <a:buNone/>
                      </a:pPr>
                      <a:r>
                        <a:rPr lang="es-ES" b="0" dirty="0">
                          <a:solidFill>
                            <a:srgbClr val="1F1F1F"/>
                          </a:solidFill>
                          <a:effectLst/>
                        </a:rPr>
                        <a:t>Modo 3</a:t>
                      </a:r>
                      <a:endParaRPr lang="es-ES" b="0" dirty="0">
                        <a:solidFill>
                          <a:srgbClr val="1F1F1F"/>
                        </a:solidFill>
                        <a:effectLst/>
                        <a:latin typeface="Google Sans Text"/>
                      </a:endParaRPr>
                    </a:p>
                  </a:txBody>
                  <a:tcPr marT="60960" marB="60960" anchor="ctr"/>
                </a:tc>
                <a:tc>
                  <a:txBody>
                    <a:bodyPr/>
                    <a:lstStyle/>
                    <a:p>
                      <a:pPr rtl="0">
                        <a:buNone/>
                      </a:pPr>
                      <a:r>
                        <a:rPr lang="es-ES" b="0" dirty="0">
                          <a:solidFill>
                            <a:srgbClr val="1F1F1F"/>
                          </a:solidFill>
                          <a:effectLst/>
                        </a:rPr>
                        <a:t>1.4332</a:t>
                      </a:r>
                      <a:endParaRPr lang="es-ES" b="0" dirty="0">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4.76%</a:t>
                      </a:r>
                      <a:endParaRPr lang="es-ES">
                        <a:solidFill>
                          <a:srgbClr val="1F1F1F"/>
                        </a:solidFill>
                        <a:effectLst/>
                        <a:latin typeface="Google Sans Text"/>
                      </a:endParaRPr>
                    </a:p>
                  </a:txBody>
                  <a:tcPr marT="60960" marB="60960" anchor="ctr"/>
                </a:tc>
                <a:tc>
                  <a:txBody>
                    <a:bodyPr/>
                    <a:lstStyle/>
                    <a:p>
                      <a:pPr rtl="0">
                        <a:buNone/>
                      </a:pPr>
                      <a:r>
                        <a:rPr lang="es-ES">
                          <a:solidFill>
                            <a:srgbClr val="1F1F1F"/>
                          </a:solidFill>
                          <a:effectLst/>
                        </a:rPr>
                        <a:t>95.24%</a:t>
                      </a:r>
                      <a:endParaRPr lang="es-ES">
                        <a:solidFill>
                          <a:srgbClr val="1F1F1F"/>
                        </a:solidFill>
                        <a:effectLst/>
                        <a:latin typeface="Google Sans Text"/>
                      </a:endParaRPr>
                    </a:p>
                  </a:txBody>
                  <a:tcPr marT="60960" marB="60960" anchor="ctr"/>
                </a:tc>
                <a:tc>
                  <a:txBody>
                    <a:bodyPr/>
                    <a:lstStyle/>
                    <a:p>
                      <a:pPr rtl="0">
                        <a:buNone/>
                      </a:pPr>
                      <a:r>
                        <a:rPr lang="es-ES" dirty="0">
                          <a:solidFill>
                            <a:srgbClr val="1F1F1F"/>
                          </a:solidFill>
                          <a:effectLst/>
                        </a:rPr>
                        <a:t>Superior TM</a:t>
                      </a:r>
                      <a:endParaRPr lang="es-ES" dirty="0">
                        <a:solidFill>
                          <a:srgbClr val="1F1F1F"/>
                        </a:solidFill>
                        <a:effectLst/>
                        <a:latin typeface="Google Sans Text"/>
                      </a:endParaRPr>
                    </a:p>
                  </a:txBody>
                  <a:tcPr marT="60960" marB="60960" anchor="ctr"/>
                </a:tc>
                <a:extLst>
                  <a:ext uri="{0D108BD9-81ED-4DB2-BD59-A6C34878D82A}">
                    <a16:rowId xmlns:a16="http://schemas.microsoft.com/office/drawing/2014/main" val="1602144237"/>
                  </a:ext>
                </a:extLst>
              </a:tr>
            </a:tbl>
          </a:graphicData>
        </a:graphic>
      </p:graphicFrame>
    </p:spTree>
    <p:extLst>
      <p:ext uri="{BB962C8B-B14F-4D97-AF65-F5344CB8AC3E}">
        <p14:creationId xmlns:p14="http://schemas.microsoft.com/office/powerpoint/2010/main" val="1853917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E2851CC-38CC-2D22-7B6F-829C3778C9DF}"/>
              </a:ext>
            </a:extLst>
          </p:cNvPr>
          <p:cNvSpPr>
            <a:spLocks noGrp="1"/>
          </p:cNvSpPr>
          <p:nvPr>
            <p:ph type="sldNum" sz="quarter" idx="7"/>
          </p:nvPr>
        </p:nvSpPr>
        <p:spPr/>
        <p:txBody>
          <a:bodyPr/>
          <a:lstStyle/>
          <a:p>
            <a:fld id="{B6F15528-21DE-4FAA-801E-634DDDAF4B2B}" type="slidenum">
              <a:rPr lang="es-ES" smtClean="0"/>
              <a:t>6</a:t>
            </a:fld>
            <a:endParaRPr lang="es-ES"/>
          </a:p>
        </p:txBody>
      </p:sp>
      <p:pic>
        <p:nvPicPr>
          <p:cNvPr id="4" name="Imagen 3" descr="Gráfico&#10;&#10;El contenido generado por IA puede ser incorrecto.">
            <a:extLst>
              <a:ext uri="{FF2B5EF4-FFF2-40B4-BE49-F238E27FC236}">
                <a16:creationId xmlns:a16="http://schemas.microsoft.com/office/drawing/2014/main" id="{F28A90E6-B96E-3CDE-2922-2A0C73BFFF52}"/>
              </a:ext>
            </a:extLst>
          </p:cNvPr>
          <p:cNvPicPr>
            <a:picLocks noChangeAspect="1"/>
          </p:cNvPicPr>
          <p:nvPr/>
        </p:nvPicPr>
        <p:blipFill>
          <a:blip r:embed="rId2"/>
          <a:stretch>
            <a:fillRect/>
          </a:stretch>
        </p:blipFill>
        <p:spPr>
          <a:xfrm>
            <a:off x="509588" y="240099"/>
            <a:ext cx="4876800" cy="3282137"/>
          </a:xfrm>
          <a:prstGeom prst="rect">
            <a:avLst/>
          </a:prstGeom>
        </p:spPr>
      </p:pic>
      <p:pic>
        <p:nvPicPr>
          <p:cNvPr id="6" name="Imagen 5" descr="Gráfico, Histograma&#10;&#10;El contenido generado por IA puede ser incorrecto.">
            <a:extLst>
              <a:ext uri="{FF2B5EF4-FFF2-40B4-BE49-F238E27FC236}">
                <a16:creationId xmlns:a16="http://schemas.microsoft.com/office/drawing/2014/main" id="{F6723F6A-C06B-4C36-B045-BE0EC26A55F3}"/>
              </a:ext>
            </a:extLst>
          </p:cNvPr>
          <p:cNvPicPr>
            <a:picLocks noChangeAspect="1"/>
          </p:cNvPicPr>
          <p:nvPr/>
        </p:nvPicPr>
        <p:blipFill>
          <a:blip r:embed="rId3"/>
          <a:stretch>
            <a:fillRect/>
          </a:stretch>
        </p:blipFill>
        <p:spPr>
          <a:xfrm>
            <a:off x="661988" y="3454461"/>
            <a:ext cx="4724400" cy="3179570"/>
          </a:xfrm>
          <a:prstGeom prst="rect">
            <a:avLst/>
          </a:prstGeom>
        </p:spPr>
      </p:pic>
      <p:sp>
        <p:nvSpPr>
          <p:cNvPr id="3" name="CuadroTexto 2">
            <a:extLst>
              <a:ext uri="{FF2B5EF4-FFF2-40B4-BE49-F238E27FC236}">
                <a16:creationId xmlns:a16="http://schemas.microsoft.com/office/drawing/2014/main" id="{68C46020-2298-5856-DEFD-377162BE7E57}"/>
              </a:ext>
            </a:extLst>
          </p:cNvPr>
          <p:cNvSpPr txBox="1"/>
          <p:nvPr/>
        </p:nvSpPr>
        <p:spPr>
          <a:xfrm>
            <a:off x="8843963" y="92461"/>
            <a:ext cx="3348037" cy="400110"/>
          </a:xfrm>
          <a:prstGeom prst="rect">
            <a:avLst/>
          </a:prstGeom>
          <a:noFill/>
        </p:spPr>
        <p:txBody>
          <a:bodyPr wrap="square" rtlCol="0">
            <a:spAutoFit/>
          </a:bodyPr>
          <a:lstStyle/>
          <a:p>
            <a:r>
              <a:rPr lang="es-ES" sz="2000" dirty="0"/>
              <a:t>Perfiles de campo eléctrico </a:t>
            </a:r>
          </a:p>
        </p:txBody>
      </p:sp>
      <p:sp>
        <p:nvSpPr>
          <p:cNvPr id="5" name="CuadroTexto 4">
            <a:extLst>
              <a:ext uri="{FF2B5EF4-FFF2-40B4-BE49-F238E27FC236}">
                <a16:creationId xmlns:a16="http://schemas.microsoft.com/office/drawing/2014/main" id="{09F9DDA3-072F-F6FE-EC5B-A9608D8CBD4E}"/>
              </a:ext>
            </a:extLst>
          </p:cNvPr>
          <p:cNvSpPr txBox="1"/>
          <p:nvPr/>
        </p:nvSpPr>
        <p:spPr>
          <a:xfrm>
            <a:off x="5743576" y="1409700"/>
            <a:ext cx="5562600" cy="3693319"/>
          </a:xfrm>
          <a:prstGeom prst="rect">
            <a:avLst/>
          </a:prstGeom>
          <a:noFill/>
        </p:spPr>
        <p:txBody>
          <a:bodyPr wrap="square" rtlCol="0">
            <a:spAutoFit/>
          </a:bodyPr>
          <a:lstStyle/>
          <a:p>
            <a:r>
              <a:rPr lang="es-ES" dirty="0"/>
              <a:t>En este apartado vemos los perfiles de campo obtenidos para la sección transversal de la guía. Con la escala de colores podemos identificar la intensidad del campo (el rojo es el máximo y el azul el mínimo).</a:t>
            </a:r>
          </a:p>
          <a:p>
            <a:endParaRPr lang="es-ES" dirty="0"/>
          </a:p>
          <a:p>
            <a:r>
              <a:rPr lang="es-ES" b="1" dirty="0"/>
              <a:t>Modo 0 (Fundamental Transversal Eléctrico)</a:t>
            </a:r>
          </a:p>
          <a:p>
            <a:r>
              <a:rPr lang="es-ES" dirty="0"/>
              <a:t>Se observa un único lóbulo central de gran intensidad confinado en el núcleo.</a:t>
            </a:r>
          </a:p>
          <a:p>
            <a:endParaRPr lang="es-ES" dirty="0"/>
          </a:p>
          <a:p>
            <a:r>
              <a:rPr lang="es-ES" b="1" dirty="0"/>
              <a:t>Modo 1 (Fundamental Transversal Magnético)</a:t>
            </a:r>
          </a:p>
          <a:p>
            <a:r>
              <a:rPr lang="es-ES" dirty="0"/>
              <a:t>Presenta una distribución similar al anterior, pero para la componente vertical del campo eléctrico. Es el segundo modo con mayor índice efectivo.</a:t>
            </a:r>
          </a:p>
        </p:txBody>
      </p:sp>
    </p:spTree>
    <p:extLst>
      <p:ext uri="{BB962C8B-B14F-4D97-AF65-F5344CB8AC3E}">
        <p14:creationId xmlns:p14="http://schemas.microsoft.com/office/powerpoint/2010/main" val="1795007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4597D1A-1604-24A6-0C76-367134BCC269}"/>
              </a:ext>
            </a:extLst>
          </p:cNvPr>
          <p:cNvSpPr>
            <a:spLocks noGrp="1"/>
          </p:cNvSpPr>
          <p:nvPr>
            <p:ph type="sldNum" sz="quarter" idx="7"/>
          </p:nvPr>
        </p:nvSpPr>
        <p:spPr/>
        <p:txBody>
          <a:bodyPr/>
          <a:lstStyle/>
          <a:p>
            <a:fld id="{B6F15528-21DE-4FAA-801E-634DDDAF4B2B}" type="slidenum">
              <a:rPr lang="es-ES" smtClean="0"/>
              <a:t>7</a:t>
            </a:fld>
            <a:endParaRPr lang="es-ES"/>
          </a:p>
        </p:txBody>
      </p:sp>
      <p:pic>
        <p:nvPicPr>
          <p:cNvPr id="8" name="Imagen 7" descr="Gráfico&#10;&#10;El contenido generado por IA puede ser incorrecto.">
            <a:extLst>
              <a:ext uri="{FF2B5EF4-FFF2-40B4-BE49-F238E27FC236}">
                <a16:creationId xmlns:a16="http://schemas.microsoft.com/office/drawing/2014/main" id="{806E0A78-753D-E464-CF34-9878851B450D}"/>
              </a:ext>
            </a:extLst>
          </p:cNvPr>
          <p:cNvPicPr>
            <a:picLocks noChangeAspect="1"/>
          </p:cNvPicPr>
          <p:nvPr/>
        </p:nvPicPr>
        <p:blipFill>
          <a:blip r:embed="rId2"/>
          <a:stretch>
            <a:fillRect/>
          </a:stretch>
        </p:blipFill>
        <p:spPr>
          <a:xfrm>
            <a:off x="266821" y="190520"/>
            <a:ext cx="4776758" cy="3238480"/>
          </a:xfrm>
          <a:prstGeom prst="rect">
            <a:avLst/>
          </a:prstGeom>
        </p:spPr>
      </p:pic>
      <p:pic>
        <p:nvPicPr>
          <p:cNvPr id="10" name="Imagen 9" descr="Gráfico, Histograma&#10;&#10;El contenido generado por IA puede ser incorrecto.">
            <a:extLst>
              <a:ext uri="{FF2B5EF4-FFF2-40B4-BE49-F238E27FC236}">
                <a16:creationId xmlns:a16="http://schemas.microsoft.com/office/drawing/2014/main" id="{EA2CC3D1-7E46-13E7-8CC8-1BEA91DBEFCD}"/>
              </a:ext>
            </a:extLst>
          </p:cNvPr>
          <p:cNvPicPr>
            <a:picLocks noChangeAspect="1"/>
          </p:cNvPicPr>
          <p:nvPr/>
        </p:nvPicPr>
        <p:blipFill>
          <a:blip r:embed="rId3"/>
          <a:stretch>
            <a:fillRect/>
          </a:stretch>
        </p:blipFill>
        <p:spPr>
          <a:xfrm>
            <a:off x="381378" y="3593587"/>
            <a:ext cx="4662201" cy="3073892"/>
          </a:xfrm>
          <a:prstGeom prst="rect">
            <a:avLst/>
          </a:prstGeom>
        </p:spPr>
      </p:pic>
      <p:sp>
        <p:nvSpPr>
          <p:cNvPr id="3" name="CuadroTexto 2">
            <a:extLst>
              <a:ext uri="{FF2B5EF4-FFF2-40B4-BE49-F238E27FC236}">
                <a16:creationId xmlns:a16="http://schemas.microsoft.com/office/drawing/2014/main" id="{C2848857-7BEE-E777-64F7-C084C46E4CE1}"/>
              </a:ext>
            </a:extLst>
          </p:cNvPr>
          <p:cNvSpPr txBox="1"/>
          <p:nvPr/>
        </p:nvSpPr>
        <p:spPr>
          <a:xfrm>
            <a:off x="5743576" y="1409700"/>
            <a:ext cx="5562600" cy="3416320"/>
          </a:xfrm>
          <a:prstGeom prst="rect">
            <a:avLst/>
          </a:prstGeom>
          <a:noFill/>
        </p:spPr>
        <p:txBody>
          <a:bodyPr wrap="square" rtlCol="0">
            <a:spAutoFit/>
          </a:bodyPr>
          <a:lstStyle/>
          <a:p>
            <a:r>
              <a:rPr lang="es-ES" b="1" dirty="0"/>
              <a:t>Modo 2 (primer modo de orden superior)</a:t>
            </a:r>
          </a:p>
          <a:p>
            <a:r>
              <a:rPr lang="es-ES" dirty="0"/>
              <a:t>Se observan dos lóbulos laterales con un nodo central (intensidad cero en el centro de la guía). Esto ocurre porque su índice efectivo está extremadamente cerca del índice de la cubierta. Este sería un modo poco eficiente</a:t>
            </a:r>
          </a:p>
          <a:p>
            <a:endParaRPr lang="es-ES" dirty="0"/>
          </a:p>
          <a:p>
            <a:r>
              <a:rPr lang="es-ES" b="1" dirty="0"/>
              <a:t>Modo 3 </a:t>
            </a:r>
          </a:p>
          <a:p>
            <a:r>
              <a:rPr lang="es-ES" dirty="0"/>
              <a:t>No se ve un centro claro en el núcleo. Esto se debe a que el </a:t>
            </a:r>
            <a:r>
              <a:rPr lang="es-ES" dirty="0" err="1"/>
              <a:t>nefff</a:t>
            </a:r>
            <a:r>
              <a:rPr lang="es-ES" dirty="0"/>
              <a:t> de 1.433 está por debajo del índice del sustrato. Físicamente, esto significa que la luz no está atrapada y se está fugando. En un dispositivo real, este modo desaparecería al empezar la propagación.</a:t>
            </a:r>
          </a:p>
        </p:txBody>
      </p:sp>
    </p:spTree>
    <p:extLst>
      <p:ext uri="{BB962C8B-B14F-4D97-AF65-F5344CB8AC3E}">
        <p14:creationId xmlns:p14="http://schemas.microsoft.com/office/powerpoint/2010/main" val="84701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a:xfrm>
            <a:off x="579251" y="6157714"/>
            <a:ext cx="2743200" cy="184666"/>
          </a:xfrm>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579092" y="4472874"/>
            <a:ext cx="11199971" cy="2308324"/>
          </a:xfrm>
          <a:prstGeom prst="rect">
            <a:avLst/>
          </a:prstGeom>
          <a:solidFill>
            <a:schemeClr val="bg1">
              <a:lumMod val="95000"/>
            </a:schemeClr>
          </a:solidFill>
          <a:ln w="28575">
            <a:solidFill>
              <a:srgbClr val="E0700D"/>
            </a:solidFill>
          </a:ln>
        </p:spPr>
        <p:txBody>
          <a:bodyPr wrap="square" rtlCol="0">
            <a:spAutoFit/>
          </a:bodyPr>
          <a:lstStyle/>
          <a:p>
            <a:pPr algn="just"/>
            <a:r>
              <a:rPr lang="es-ES" sz="1600" dirty="0">
                <a:cs typeface="Arial" panose="020B0604020202020204" pitchFamily="34" charset="0"/>
              </a:rPr>
              <a:t>Ambas gráficas muestran que el </a:t>
            </a:r>
            <a:r>
              <a:rPr lang="es-ES" sz="1600" dirty="0" err="1">
                <a:cs typeface="Arial" panose="020B0604020202020204" pitchFamily="34" charset="0"/>
              </a:rPr>
              <a:t>neff</a:t>
            </a:r>
            <a:r>
              <a:rPr lang="es-ES" sz="1600" dirty="0">
                <a:cs typeface="Arial" panose="020B0604020202020204" pitchFamily="34" charset="0"/>
              </a:rPr>
              <a:t> disminuye al aumentar la longitud de onda. Esto se debe a la dispersión de guía: A longitudes de onda mayores, el modo se "expande" penetrando más en la cubierta y perdiendo confinamiento en el núcleo. En la guía Deep, al no tener una capa lateral (</a:t>
            </a:r>
            <a:r>
              <a:rPr lang="es-ES" sz="1600" dirty="0" err="1">
                <a:cs typeface="Arial" panose="020B0604020202020204" pitchFamily="34" charset="0"/>
              </a:rPr>
              <a:t>slab</a:t>
            </a:r>
            <a:r>
              <a:rPr lang="es-ES" sz="1600" dirty="0">
                <a:cs typeface="Arial" panose="020B0604020202020204" pitchFamily="34" charset="0"/>
              </a:rPr>
              <a:t>), el confinamiento es más reducido. Solo los modos 0 y 1 son útiles para el diseño, ya que sus índices están por encima del Si02.En la guía </a:t>
            </a:r>
            <a:r>
              <a:rPr lang="es-ES" sz="1600" dirty="0" err="1">
                <a:cs typeface="Arial" panose="020B0604020202020204" pitchFamily="34" charset="0"/>
              </a:rPr>
              <a:t>Shallow</a:t>
            </a:r>
            <a:r>
              <a:rPr lang="es-ES" sz="1600" dirty="0">
                <a:cs typeface="Arial" panose="020B0604020202020204" pitchFamily="34" charset="0"/>
              </a:rPr>
              <a:t> la presencia del </a:t>
            </a:r>
            <a:r>
              <a:rPr lang="es-ES" sz="1600" dirty="0" err="1">
                <a:cs typeface="Arial" panose="020B0604020202020204" pitchFamily="34" charset="0"/>
              </a:rPr>
              <a:t>slab</a:t>
            </a:r>
            <a:r>
              <a:rPr lang="es-ES" sz="1600" dirty="0">
                <a:cs typeface="Arial" panose="020B0604020202020204" pitchFamily="34" charset="0"/>
              </a:rPr>
              <a:t> lateral permite que los cuatro modos se mantengan guiados (</a:t>
            </a:r>
            <a:r>
              <a:rPr lang="es-ES" sz="1600" dirty="0" err="1">
                <a:cs typeface="Arial" panose="020B0604020202020204" pitchFamily="34" charset="0"/>
              </a:rPr>
              <a:t>neff</a:t>
            </a:r>
            <a:r>
              <a:rPr lang="es-ES" sz="1600" dirty="0">
                <a:cs typeface="Arial" panose="020B0604020202020204" pitchFamily="34" charset="0"/>
              </a:rPr>
              <a:t> &gt; nSiO2). El confinamiento mejora al aumentar la frecuencia (disminuir lambda). En la guía Deep, el Modo 2 está en el límite; si operáramos por debajo de 1.5 micrómetros, su </a:t>
            </a:r>
            <a:r>
              <a:rPr lang="es-ES" sz="1600" dirty="0" err="1">
                <a:cs typeface="Arial" panose="020B0604020202020204" pitchFamily="34" charset="0"/>
              </a:rPr>
              <a:t>neff</a:t>
            </a:r>
            <a:r>
              <a:rPr lang="es-ES" sz="1600" dirty="0">
                <a:cs typeface="Arial" panose="020B0604020202020204" pitchFamily="34" charset="0"/>
              </a:rPr>
              <a:t> superaría el valor de 1.444 y pasaría de ser un modo de pérdida a un modo guiado. El </a:t>
            </a:r>
            <a:r>
              <a:rPr lang="es-ES" sz="1600" dirty="0" err="1">
                <a:cs typeface="Arial" panose="020B0604020202020204" pitchFamily="34" charset="0"/>
              </a:rPr>
              <a:t>neff</a:t>
            </a:r>
            <a:r>
              <a:rPr lang="es-ES" sz="1600" dirty="0">
                <a:cs typeface="Arial" panose="020B0604020202020204" pitchFamily="34" charset="0"/>
              </a:rPr>
              <a:t> es un indicador directo del confinamiento: a mayor valor, más potencia viaja por el núcleo. A 1.55 micrómetros, la guía </a:t>
            </a:r>
            <a:r>
              <a:rPr lang="es-ES" sz="1600" dirty="0" err="1">
                <a:cs typeface="Arial" panose="020B0604020202020204" pitchFamily="34" charset="0"/>
              </a:rPr>
              <a:t>Shallow</a:t>
            </a:r>
            <a:r>
              <a:rPr lang="es-ES" sz="1600" dirty="0">
                <a:cs typeface="Arial" panose="020B0604020202020204" pitchFamily="34" charset="0"/>
              </a:rPr>
              <a:t> es más eficiente para retener la luz, con un </a:t>
            </a:r>
            <a:r>
              <a:rPr lang="es-ES" sz="1600" dirty="0" err="1">
                <a:cs typeface="Arial" panose="020B0604020202020204" pitchFamily="34" charset="0"/>
              </a:rPr>
              <a:t>neff</a:t>
            </a:r>
            <a:r>
              <a:rPr lang="es-ES" sz="1600" dirty="0">
                <a:cs typeface="Arial" panose="020B0604020202020204" pitchFamily="34" charset="0"/>
              </a:rPr>
              <a:t> para el modo fundamental (aprox. 1.625) superior al de la guía Deep (</a:t>
            </a:r>
            <a:r>
              <a:rPr lang="es-ES" sz="1600" dirty="0" err="1">
                <a:cs typeface="Arial" panose="020B0604020202020204" pitchFamily="34" charset="0"/>
              </a:rPr>
              <a:t>aprox</a:t>
            </a:r>
            <a:r>
              <a:rPr lang="es-ES" sz="1600" dirty="0">
                <a:cs typeface="Arial" panose="020B0604020202020204" pitchFamily="34" charset="0"/>
              </a:rPr>
              <a:t> 1.605).</a:t>
            </a:r>
            <a:endParaRPr lang="en-US" sz="1600" dirty="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579092" y="1119030"/>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55106" y="2371935"/>
            <a:ext cx="1980542" cy="923330"/>
          </a:xfrm>
          <a:prstGeom prst="rect">
            <a:avLst/>
          </a:prstGeom>
          <a:noFill/>
        </p:spPr>
        <p:txBody>
          <a:bodyPr wrap="none" rtlCol="0">
            <a:spAutoFit/>
          </a:bodyPr>
          <a:lstStyle/>
          <a:p>
            <a:pPr algn="ctr"/>
            <a:r>
              <a:rPr lang="en-US" b="1" dirty="0"/>
              <a:t>shallow</a:t>
            </a:r>
            <a:r>
              <a:rPr lang="en-US" dirty="0"/>
              <a:t> waveguide</a:t>
            </a:r>
          </a:p>
          <a:p>
            <a:pPr algn="ctr"/>
            <a:endParaRPr lang="en-US" dirty="0"/>
          </a:p>
          <a:p>
            <a:pPr algn="ctr"/>
            <a:r>
              <a:rPr lang="en-US" dirty="0"/>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46492" y="1119030"/>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51323" y="2371935"/>
            <a:ext cx="1722908" cy="923330"/>
          </a:xfrm>
          <a:prstGeom prst="rect">
            <a:avLst/>
          </a:prstGeom>
          <a:noFill/>
        </p:spPr>
        <p:txBody>
          <a:bodyPr wrap="none" rtlCol="0">
            <a:spAutoFit/>
          </a:bodyPr>
          <a:lstStyle/>
          <a:p>
            <a:pPr algn="ctr"/>
            <a:r>
              <a:rPr lang="en-US" b="1" dirty="0"/>
              <a:t>deep</a:t>
            </a:r>
            <a:r>
              <a:rPr lang="en-US" dirty="0"/>
              <a:t> waveguide</a:t>
            </a:r>
          </a:p>
          <a:p>
            <a:pPr algn="ctr"/>
            <a:endParaRPr lang="en-US" dirty="0"/>
          </a:p>
          <a:p>
            <a:pPr algn="ctr"/>
            <a:r>
              <a:rPr lang="en-US" dirty="0"/>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612640" y="4103542"/>
            <a:ext cx="2269787" cy="369332"/>
          </a:xfrm>
          <a:prstGeom prst="rect">
            <a:avLst/>
          </a:prstGeom>
          <a:noFill/>
        </p:spPr>
        <p:txBody>
          <a:bodyPr wrap="square">
            <a:spAutoFit/>
          </a:bodyPr>
          <a:lstStyle/>
          <a:p>
            <a:r>
              <a:rPr lang="en-US"/>
              <a:t>slab </a:t>
            </a:r>
            <a:r>
              <a:rPr lang="en-US" dirty="0"/>
              <a:t>= 150nm</a:t>
            </a:r>
            <a:endParaRPr lang="es-ES" dirty="0"/>
          </a:p>
        </p:txBody>
      </p:sp>
      <p:pic>
        <p:nvPicPr>
          <p:cNvPr id="10" name="Imagen 9" descr="Gráfico, Gráfico de líneas&#10;&#10;El contenido generado por IA puede ser incorrecto.">
            <a:extLst>
              <a:ext uri="{FF2B5EF4-FFF2-40B4-BE49-F238E27FC236}">
                <a16:creationId xmlns:a16="http://schemas.microsoft.com/office/drawing/2014/main" id="{4BD5AB34-048E-6786-F4BD-95DF94963636}"/>
              </a:ext>
            </a:extLst>
          </p:cNvPr>
          <p:cNvPicPr>
            <a:picLocks noChangeAspect="1"/>
          </p:cNvPicPr>
          <p:nvPr/>
        </p:nvPicPr>
        <p:blipFill>
          <a:blip r:embed="rId5"/>
          <a:stretch>
            <a:fillRect/>
          </a:stretch>
        </p:blipFill>
        <p:spPr>
          <a:xfrm>
            <a:off x="825991" y="1269116"/>
            <a:ext cx="4992920" cy="2912537"/>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B41BB10B-C739-2463-18CA-F9074AF004FB}"/>
              </a:ext>
            </a:extLst>
          </p:cNvPr>
          <p:cNvPicPr>
            <a:picLocks noChangeAspect="1"/>
          </p:cNvPicPr>
          <p:nvPr/>
        </p:nvPicPr>
        <p:blipFill>
          <a:blip r:embed="rId6"/>
          <a:stretch>
            <a:fillRect/>
          </a:stretch>
        </p:blipFill>
        <p:spPr>
          <a:xfrm>
            <a:off x="6545343" y="1269116"/>
            <a:ext cx="5139573" cy="2998084"/>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763009" y="1336117"/>
            <a:ext cx="5235456" cy="4616648"/>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cs typeface="Arial" panose="020B0604020202020204" pitchFamily="34" charset="0"/>
              </a:rPr>
              <a:t>Se observa que el índice efectivo (</a:t>
            </a:r>
            <a:r>
              <a:rPr lang="es-ES" sz="1400" dirty="0" err="1">
                <a:cs typeface="Arial" panose="020B0604020202020204" pitchFamily="34" charset="0"/>
              </a:rPr>
              <a:t>neff</a:t>
            </a:r>
            <a:r>
              <a:rPr lang="es-ES" sz="1400" dirty="0">
                <a:cs typeface="Arial" panose="020B0604020202020204" pitchFamily="34" charset="0"/>
              </a:rPr>
              <a:t>) de todos los modos aumenta conforme incrementamos el ancho de la guía (w), lo que mejora el confinamiento de la luz y reduce la cantidad de campo eléctrico que viaja por la cubierta de bajo índice. La línea discontinua negra representa el índice del SiO2 (</a:t>
            </a:r>
            <a:r>
              <a:rPr lang="es-ES" sz="1400" dirty="0" err="1">
                <a:cs typeface="Arial" panose="020B0604020202020204" pitchFamily="34" charset="0"/>
              </a:rPr>
              <a:t>aprox</a:t>
            </a:r>
            <a:r>
              <a:rPr lang="es-ES" sz="1400" dirty="0">
                <a:cs typeface="Arial" panose="020B0604020202020204" pitchFamily="34" charset="0"/>
              </a:rPr>
              <a:t> 1.458). </a:t>
            </a:r>
          </a:p>
          <a:p>
            <a:pPr algn="just"/>
            <a:r>
              <a:rPr lang="es-ES" sz="1400" dirty="0">
                <a:cs typeface="Arial" panose="020B0604020202020204" pitchFamily="34" charset="0"/>
              </a:rPr>
              <a:t>Modos 0 y 1: Se mantienen por encima de esta línea en todo el rango (0.6 a 1.6 µm), lo que significa que están siempre guiados</a:t>
            </a:r>
          </a:p>
          <a:p>
            <a:pPr algn="just"/>
            <a:r>
              <a:rPr lang="es-ES" sz="1400" dirty="0">
                <a:cs typeface="Arial" panose="020B0604020202020204" pitchFamily="34" charset="0"/>
              </a:rPr>
              <a:t>Modo 2: Cruza la línea del SiO2 aproximadamente a los 1.3 µm de ancho. Por debajo de ese valor, el modo no está guiado; por encima de 1.3 µm, se convierte en un modo guiado.</a:t>
            </a:r>
          </a:p>
          <a:p>
            <a:pPr algn="just"/>
            <a:r>
              <a:rPr lang="es-ES" sz="1400" dirty="0">
                <a:cs typeface="Arial" panose="020B0604020202020204" pitchFamily="34" charset="0"/>
              </a:rPr>
              <a:t>Modo 3: Permanece por debajo del índice casi hasta el final del barrido, lo que indica que es un modo de radiación no apto para propagación en la mayoría de estos anchos.</a:t>
            </a:r>
          </a:p>
          <a:p>
            <a:pPr algn="just"/>
            <a:r>
              <a:rPr lang="es-ES" sz="1400" dirty="0">
                <a:cs typeface="Arial" panose="020B0604020202020204" pitchFamily="34" charset="0"/>
              </a:rPr>
              <a:t>Gracias a la barra de colores, podemos identificar la naturaleza de los modos:</a:t>
            </a:r>
          </a:p>
          <a:p>
            <a:pPr algn="just"/>
            <a:r>
              <a:rPr lang="es-ES" sz="1400" dirty="0">
                <a:cs typeface="Arial" panose="020B0604020202020204" pitchFamily="34" charset="0"/>
              </a:rPr>
              <a:t>Los Modos 0 y 2 son rojos, lo que indica que son de tipo TE</a:t>
            </a:r>
          </a:p>
          <a:p>
            <a:pPr algn="just"/>
            <a:r>
              <a:rPr lang="es-ES" sz="1400" dirty="0">
                <a:cs typeface="Arial" panose="020B0604020202020204" pitchFamily="34" charset="0"/>
              </a:rPr>
              <a:t>Los Modos 1 y 3 son azules, indicando que son de tipo TM</a:t>
            </a:r>
          </a:p>
          <a:p>
            <a:pPr algn="just"/>
            <a:r>
              <a:rPr lang="es-ES" sz="1400" dirty="0">
                <a:cs typeface="Arial" panose="020B0604020202020204" pitchFamily="34" charset="0"/>
              </a:rPr>
              <a:t>Los Modos 1 y 3 son azules, indicando que son de tipo TM</a:t>
            </a:r>
          </a:p>
          <a:p>
            <a:pPr algn="just"/>
            <a:r>
              <a:rPr lang="es-ES" sz="1400" dirty="0">
                <a:cs typeface="Arial" panose="020B0604020202020204" pitchFamily="34" charset="0"/>
              </a:rPr>
              <a:t>Si queremos que la guía sea monomodo, debemos trabajar con un ancho inferior a 1.2 - 1.3 µm. A partir de 1.3 µm, la guía se vuelve multimodo, ya que empieza a soportar el Modo 2</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179247" y="1585801"/>
            <a:ext cx="6400959" cy="368639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07771E72-6B47-563B-51C3-6B62B0F611A6}"/>
              </a:ext>
            </a:extLst>
          </p:cNvPr>
          <p:cNvPicPr>
            <a:picLocks noChangeAspect="1"/>
          </p:cNvPicPr>
          <p:nvPr/>
        </p:nvPicPr>
        <p:blipFill>
          <a:blip r:embed="rId5"/>
          <a:stretch>
            <a:fillRect/>
          </a:stretch>
        </p:blipFill>
        <p:spPr>
          <a:xfrm>
            <a:off x="267433" y="1632876"/>
            <a:ext cx="6170732" cy="3592247"/>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09441" y="17464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935716"/>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935716"/>
                <a:ext cx="11198542" cy="1361911"/>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pic>
        <p:nvPicPr>
          <p:cNvPr id="7" name="Imagen 6">
            <a:extLst>
              <a:ext uri="{FF2B5EF4-FFF2-40B4-BE49-F238E27FC236}">
                <a16:creationId xmlns:a16="http://schemas.microsoft.com/office/drawing/2014/main" id="{B3B32F28-8632-4E98-E226-5B9FD37CCC6D}"/>
              </a:ext>
            </a:extLst>
          </p:cNvPr>
          <p:cNvPicPr>
            <a:picLocks noChangeAspect="1"/>
          </p:cNvPicPr>
          <p:nvPr/>
        </p:nvPicPr>
        <p:blipFill>
          <a:blip r:embed="rId6"/>
          <a:stretch>
            <a:fillRect/>
          </a:stretch>
        </p:blipFill>
        <p:spPr>
          <a:xfrm>
            <a:off x="76200" y="1302795"/>
            <a:ext cx="5351531" cy="3423728"/>
          </a:xfrm>
          <a:prstGeom prst="rect">
            <a:avLst/>
          </a:prstGeom>
        </p:spPr>
      </p:pic>
      <p:graphicFrame>
        <p:nvGraphicFramePr>
          <p:cNvPr id="11" name="Tabla 10">
            <a:extLst>
              <a:ext uri="{FF2B5EF4-FFF2-40B4-BE49-F238E27FC236}">
                <a16:creationId xmlns:a16="http://schemas.microsoft.com/office/drawing/2014/main" id="{B7CBF1AD-D1DB-B3CD-C625-B1C0199AC7B2}"/>
              </a:ext>
            </a:extLst>
          </p:cNvPr>
          <p:cNvGraphicFramePr>
            <a:graphicFrameLocks noGrp="1"/>
          </p:cNvGraphicFramePr>
          <p:nvPr>
            <p:extLst>
              <p:ext uri="{D42A27DB-BD31-4B8C-83A1-F6EECF244321}">
                <p14:modId xmlns:p14="http://schemas.microsoft.com/office/powerpoint/2010/main" val="1934939858"/>
              </p:ext>
            </p:extLst>
          </p:nvPr>
        </p:nvGraphicFramePr>
        <p:xfrm>
          <a:off x="6477000" y="1320315"/>
          <a:ext cx="4343400" cy="1524000"/>
        </p:xfrm>
        <a:graphic>
          <a:graphicData uri="http://schemas.openxmlformats.org/drawingml/2006/table">
            <a:tbl>
              <a:tblPr>
                <a:tableStyleId>{08FB837D-C827-4EFA-A057-4D05807E0F7C}</a:tableStyleId>
              </a:tblPr>
              <a:tblGrid>
                <a:gridCol w="1085850">
                  <a:extLst>
                    <a:ext uri="{9D8B030D-6E8A-4147-A177-3AD203B41FA5}">
                      <a16:colId xmlns:a16="http://schemas.microsoft.com/office/drawing/2014/main" val="2183405042"/>
                    </a:ext>
                  </a:extLst>
                </a:gridCol>
                <a:gridCol w="1085850">
                  <a:extLst>
                    <a:ext uri="{9D8B030D-6E8A-4147-A177-3AD203B41FA5}">
                      <a16:colId xmlns:a16="http://schemas.microsoft.com/office/drawing/2014/main" val="3134435513"/>
                    </a:ext>
                  </a:extLst>
                </a:gridCol>
                <a:gridCol w="1085850">
                  <a:extLst>
                    <a:ext uri="{9D8B030D-6E8A-4147-A177-3AD203B41FA5}">
                      <a16:colId xmlns:a16="http://schemas.microsoft.com/office/drawing/2014/main" val="601091370"/>
                    </a:ext>
                  </a:extLst>
                </a:gridCol>
                <a:gridCol w="1085850">
                  <a:extLst>
                    <a:ext uri="{9D8B030D-6E8A-4147-A177-3AD203B41FA5}">
                      <a16:colId xmlns:a16="http://schemas.microsoft.com/office/drawing/2014/main" val="2015695588"/>
                    </a:ext>
                  </a:extLst>
                </a:gridCol>
              </a:tblGrid>
              <a:tr h="285783">
                <a:tc>
                  <a:txBody>
                    <a:bodyPr/>
                    <a:lstStyle/>
                    <a:p>
                      <a:pPr rtl="0">
                        <a:buNone/>
                      </a:pPr>
                      <a:r>
                        <a:rPr lang="es-ES" sz="1200" b="1">
                          <a:solidFill>
                            <a:srgbClr val="1F1F1F"/>
                          </a:solidFill>
                          <a:effectLst/>
                        </a:rPr>
                        <a:t>Configuración</a:t>
                      </a:r>
                      <a:endParaRPr lang="es-ES" sz="1200">
                        <a:solidFill>
                          <a:srgbClr val="1F1F1F"/>
                        </a:solidFill>
                        <a:effectLst/>
                        <a:latin typeface="Google Sans Text"/>
                      </a:endParaRPr>
                    </a:p>
                  </a:txBody>
                  <a:tcPr marT="60960" marB="60960" anchor="ctr"/>
                </a:tc>
                <a:tc>
                  <a:txBody>
                    <a:bodyPr/>
                    <a:lstStyle/>
                    <a:p>
                      <a:pPr rtl="0">
                        <a:buNone/>
                      </a:pPr>
                      <a:r>
                        <a:rPr lang="es-ES" sz="1200" b="1" dirty="0" err="1">
                          <a:solidFill>
                            <a:srgbClr val="1F1F1F"/>
                          </a:solidFill>
                          <a:effectLst/>
                        </a:rPr>
                        <a:t>neff</a:t>
                      </a:r>
                      <a:r>
                        <a:rPr lang="es-ES" sz="1200" b="1" dirty="0">
                          <a:solidFill>
                            <a:srgbClr val="1F1F1F"/>
                          </a:solidFill>
                          <a:effectLst/>
                        </a:rPr>
                        <a:t>​ (n1​)</a:t>
                      </a:r>
                      <a:endParaRPr lang="es-ES" sz="1200" dirty="0">
                        <a:solidFill>
                          <a:srgbClr val="1F1F1F"/>
                        </a:solidFill>
                        <a:effectLst/>
                        <a:latin typeface="Google Sans Text"/>
                      </a:endParaRPr>
                    </a:p>
                  </a:txBody>
                  <a:tcPr marT="60960" marB="60960" anchor="ctr"/>
                </a:tc>
                <a:tc>
                  <a:txBody>
                    <a:bodyPr/>
                    <a:lstStyle/>
                    <a:p>
                      <a:pPr rtl="0">
                        <a:buNone/>
                      </a:pPr>
                      <a:r>
                        <a:rPr lang="es-ES" sz="1200" b="1" dirty="0">
                          <a:solidFill>
                            <a:srgbClr val="1F1F1F"/>
                          </a:solidFill>
                          <a:effectLst/>
                        </a:rPr>
                        <a:t>ng​</a:t>
                      </a:r>
                      <a:endParaRPr lang="es-ES" sz="1200" dirty="0">
                        <a:solidFill>
                          <a:srgbClr val="1F1F1F"/>
                        </a:solidFill>
                        <a:effectLst/>
                        <a:latin typeface="Google Sans Text"/>
                      </a:endParaRPr>
                    </a:p>
                  </a:txBody>
                  <a:tcPr marT="60960" marB="60960" anchor="ctr"/>
                </a:tc>
                <a:tc>
                  <a:txBody>
                    <a:bodyPr/>
                    <a:lstStyle/>
                    <a:p>
                      <a:pPr rtl="0">
                        <a:buNone/>
                      </a:pPr>
                      <a:r>
                        <a:rPr lang="es-ES" sz="1200" b="1">
                          <a:solidFill>
                            <a:srgbClr val="1F1F1F"/>
                          </a:solidFill>
                          <a:effectLst/>
                        </a:rPr>
                        <a:t>D (s2/m)</a:t>
                      </a:r>
                      <a:endParaRPr lang="es-ES" sz="1200">
                        <a:solidFill>
                          <a:srgbClr val="1F1F1F"/>
                        </a:solidFill>
                        <a:effectLst/>
                        <a:latin typeface="Google Sans Text"/>
                      </a:endParaRPr>
                    </a:p>
                  </a:txBody>
                  <a:tcPr marT="60960" marB="60960" anchor="ctr"/>
                </a:tc>
                <a:extLst>
                  <a:ext uri="{0D108BD9-81ED-4DB2-BD59-A6C34878D82A}">
                    <a16:rowId xmlns:a16="http://schemas.microsoft.com/office/drawing/2014/main" val="3176340017"/>
                  </a:ext>
                </a:extLst>
              </a:tr>
              <a:tr h="285783">
                <a:tc>
                  <a:txBody>
                    <a:bodyPr/>
                    <a:lstStyle/>
                    <a:p>
                      <a:pPr rtl="0">
                        <a:buNone/>
                      </a:pPr>
                      <a:r>
                        <a:rPr lang="es-ES" sz="1200" b="1">
                          <a:solidFill>
                            <a:srgbClr val="1F1F1F"/>
                          </a:solidFill>
                          <a:effectLst/>
                        </a:rPr>
                        <a:t>Deep TE0</a:t>
                      </a:r>
                      <a:endParaRPr lang="es-ES" sz="1200">
                        <a:solidFill>
                          <a:srgbClr val="1F1F1F"/>
                        </a:solidFill>
                        <a:effectLst/>
                        <a:latin typeface="Google Sans Text"/>
                      </a:endParaRPr>
                    </a:p>
                  </a:txBody>
                  <a:tcPr marT="60960" marB="60960" anchor="ctr"/>
                </a:tc>
                <a:tc>
                  <a:txBody>
                    <a:bodyPr/>
                    <a:lstStyle/>
                    <a:p>
                      <a:pPr rtl="0">
                        <a:buNone/>
                      </a:pPr>
                      <a:r>
                        <a:rPr lang="es-ES" sz="1200" b="1">
                          <a:solidFill>
                            <a:srgbClr val="1F1F1F"/>
                          </a:solidFill>
                          <a:effectLst/>
                        </a:rPr>
                        <a:t>1.6049</a:t>
                      </a:r>
                      <a:endParaRPr lang="es-ES" sz="1200">
                        <a:solidFill>
                          <a:srgbClr val="1F1F1F"/>
                        </a:solidFill>
                        <a:effectLst/>
                        <a:latin typeface="Google Sans Text"/>
                      </a:endParaRPr>
                    </a:p>
                  </a:txBody>
                  <a:tcPr marT="60960" marB="60960" anchor="ctr"/>
                </a:tc>
                <a:tc>
                  <a:txBody>
                    <a:bodyPr/>
                    <a:lstStyle/>
                    <a:p>
                      <a:pPr rtl="0">
                        <a:buNone/>
                      </a:pPr>
                      <a:r>
                        <a:rPr lang="es-ES" sz="1200">
                          <a:solidFill>
                            <a:srgbClr val="1F1F1F"/>
                          </a:solidFill>
                          <a:effectLst/>
                        </a:rPr>
                        <a:t>1.9400</a:t>
                      </a:r>
                      <a:endParaRPr lang="es-ES" sz="1200">
                        <a:solidFill>
                          <a:srgbClr val="1F1F1F"/>
                        </a:solidFill>
                        <a:effectLst/>
                        <a:latin typeface="Google Sans Text"/>
                      </a:endParaRPr>
                    </a:p>
                  </a:txBody>
                  <a:tcPr marT="60960" marB="60960" anchor="ctr"/>
                </a:tc>
                <a:tc>
                  <a:txBody>
                    <a:bodyPr/>
                    <a:lstStyle/>
                    <a:p>
                      <a:pPr rtl="0">
                        <a:buNone/>
                      </a:pPr>
                      <a:r>
                        <a:rPr lang="es-ES" sz="1200" dirty="0">
                          <a:solidFill>
                            <a:srgbClr val="1F1F1F"/>
                          </a:solidFill>
                          <a:effectLst/>
                        </a:rPr>
                        <a:t>-1.0067e-3</a:t>
                      </a:r>
                      <a:endParaRPr lang="es-ES" sz="1200" dirty="0">
                        <a:solidFill>
                          <a:srgbClr val="1F1F1F"/>
                        </a:solidFill>
                        <a:effectLst/>
                        <a:latin typeface="Google Sans Text"/>
                      </a:endParaRPr>
                    </a:p>
                  </a:txBody>
                  <a:tcPr marT="60960" marB="60960" anchor="ctr"/>
                </a:tc>
                <a:extLst>
                  <a:ext uri="{0D108BD9-81ED-4DB2-BD59-A6C34878D82A}">
                    <a16:rowId xmlns:a16="http://schemas.microsoft.com/office/drawing/2014/main" val="2698965991"/>
                  </a:ext>
                </a:extLst>
              </a:tr>
              <a:tr h="285783">
                <a:tc>
                  <a:txBody>
                    <a:bodyPr/>
                    <a:lstStyle/>
                    <a:p>
                      <a:pPr rtl="0">
                        <a:buNone/>
                      </a:pPr>
                      <a:r>
                        <a:rPr lang="es-ES" sz="1200" b="1" dirty="0">
                          <a:solidFill>
                            <a:srgbClr val="1F1F1F"/>
                          </a:solidFill>
                          <a:effectLst/>
                        </a:rPr>
                        <a:t>Deep TM0</a:t>
                      </a:r>
                      <a:endParaRPr lang="es-ES" sz="1200" dirty="0">
                        <a:solidFill>
                          <a:srgbClr val="1F1F1F"/>
                        </a:solidFill>
                        <a:effectLst/>
                        <a:latin typeface="Google Sans Text"/>
                      </a:endParaRPr>
                    </a:p>
                  </a:txBody>
                  <a:tcPr marT="60960" marB="60960" anchor="ctr"/>
                </a:tc>
                <a:tc>
                  <a:txBody>
                    <a:bodyPr/>
                    <a:lstStyle/>
                    <a:p>
                      <a:pPr rtl="0">
                        <a:buNone/>
                      </a:pPr>
                      <a:r>
                        <a:rPr lang="es-ES" sz="1200" b="1" dirty="0">
                          <a:solidFill>
                            <a:srgbClr val="1F1F1F"/>
                          </a:solidFill>
                          <a:effectLst/>
                        </a:rPr>
                        <a:t>1.5272</a:t>
                      </a:r>
                      <a:endParaRPr lang="es-ES" sz="1200" dirty="0">
                        <a:solidFill>
                          <a:srgbClr val="1F1F1F"/>
                        </a:solidFill>
                        <a:effectLst/>
                        <a:latin typeface="Google Sans Text"/>
                      </a:endParaRPr>
                    </a:p>
                  </a:txBody>
                  <a:tcPr marT="60960" marB="60960" anchor="ctr"/>
                </a:tc>
                <a:tc>
                  <a:txBody>
                    <a:bodyPr/>
                    <a:lstStyle/>
                    <a:p>
                      <a:pPr rtl="0">
                        <a:buNone/>
                      </a:pPr>
                      <a:r>
                        <a:rPr lang="es-ES" sz="1200">
                          <a:solidFill>
                            <a:srgbClr val="1F1F1F"/>
                          </a:solidFill>
                          <a:effectLst/>
                        </a:rPr>
                        <a:t>1.7720</a:t>
                      </a:r>
                      <a:endParaRPr lang="es-ES" sz="1200">
                        <a:solidFill>
                          <a:srgbClr val="1F1F1F"/>
                        </a:solidFill>
                        <a:effectLst/>
                        <a:latin typeface="Google Sans Text"/>
                      </a:endParaRPr>
                    </a:p>
                  </a:txBody>
                  <a:tcPr marT="60960" marB="60960" anchor="ctr"/>
                </a:tc>
                <a:tc>
                  <a:txBody>
                    <a:bodyPr/>
                    <a:lstStyle/>
                    <a:p>
                      <a:pPr rtl="0">
                        <a:buNone/>
                      </a:pPr>
                      <a:r>
                        <a:rPr lang="es-ES" sz="1200" dirty="0">
                          <a:solidFill>
                            <a:srgbClr val="1F1F1F"/>
                          </a:solidFill>
                          <a:effectLst/>
                        </a:rPr>
                        <a:t>-1.5907e-3</a:t>
                      </a:r>
                      <a:endParaRPr lang="es-ES" sz="1200" dirty="0">
                        <a:solidFill>
                          <a:srgbClr val="1F1F1F"/>
                        </a:solidFill>
                        <a:effectLst/>
                        <a:latin typeface="Google Sans Text"/>
                      </a:endParaRPr>
                    </a:p>
                  </a:txBody>
                  <a:tcPr marT="60960" marB="60960" anchor="ctr"/>
                </a:tc>
                <a:extLst>
                  <a:ext uri="{0D108BD9-81ED-4DB2-BD59-A6C34878D82A}">
                    <a16:rowId xmlns:a16="http://schemas.microsoft.com/office/drawing/2014/main" val="300594801"/>
                  </a:ext>
                </a:extLst>
              </a:tr>
              <a:tr h="285783">
                <a:tc>
                  <a:txBody>
                    <a:bodyPr/>
                    <a:lstStyle/>
                    <a:p>
                      <a:pPr rtl="0">
                        <a:buNone/>
                      </a:pPr>
                      <a:r>
                        <a:rPr lang="es-ES" sz="1200" b="1">
                          <a:solidFill>
                            <a:srgbClr val="1F1F1F"/>
                          </a:solidFill>
                          <a:effectLst/>
                        </a:rPr>
                        <a:t>Shallow TE0</a:t>
                      </a:r>
                      <a:endParaRPr lang="es-ES" sz="1200">
                        <a:solidFill>
                          <a:srgbClr val="1F1F1F"/>
                        </a:solidFill>
                        <a:effectLst/>
                        <a:latin typeface="Google Sans Text"/>
                      </a:endParaRPr>
                    </a:p>
                  </a:txBody>
                  <a:tcPr marT="60960" marB="60960" anchor="ctr"/>
                </a:tc>
                <a:tc>
                  <a:txBody>
                    <a:bodyPr/>
                    <a:lstStyle/>
                    <a:p>
                      <a:pPr rtl="0">
                        <a:buNone/>
                      </a:pPr>
                      <a:r>
                        <a:rPr lang="es-ES" sz="1200" b="1">
                          <a:solidFill>
                            <a:srgbClr val="1F1F1F"/>
                          </a:solidFill>
                          <a:effectLst/>
                        </a:rPr>
                        <a:t>1.6241</a:t>
                      </a:r>
                      <a:endParaRPr lang="es-ES" sz="1200">
                        <a:solidFill>
                          <a:srgbClr val="1F1F1F"/>
                        </a:solidFill>
                        <a:effectLst/>
                        <a:latin typeface="Google Sans Text"/>
                      </a:endParaRPr>
                    </a:p>
                  </a:txBody>
                  <a:tcPr marT="60960" marB="60960" anchor="ctr"/>
                </a:tc>
                <a:tc>
                  <a:txBody>
                    <a:bodyPr/>
                    <a:lstStyle/>
                    <a:p>
                      <a:pPr rtl="0">
                        <a:buNone/>
                      </a:pPr>
                      <a:r>
                        <a:rPr lang="es-ES" sz="1200">
                          <a:solidFill>
                            <a:srgbClr val="1F1F1F"/>
                          </a:solidFill>
                          <a:effectLst/>
                        </a:rPr>
                        <a:t>1.9158</a:t>
                      </a:r>
                      <a:endParaRPr lang="es-ES" sz="1200">
                        <a:solidFill>
                          <a:srgbClr val="1F1F1F"/>
                        </a:solidFill>
                        <a:effectLst/>
                        <a:latin typeface="Google Sans Text"/>
                      </a:endParaRPr>
                    </a:p>
                  </a:txBody>
                  <a:tcPr marT="60960" marB="60960" anchor="ctr"/>
                </a:tc>
                <a:tc>
                  <a:txBody>
                    <a:bodyPr/>
                    <a:lstStyle/>
                    <a:p>
                      <a:pPr rtl="0">
                        <a:buNone/>
                      </a:pPr>
                      <a:r>
                        <a:rPr lang="es-ES" sz="1200" dirty="0">
                          <a:solidFill>
                            <a:srgbClr val="1F1F1F"/>
                          </a:solidFill>
                          <a:effectLst/>
                        </a:rPr>
                        <a:t>-9.8954e-4</a:t>
                      </a:r>
                      <a:endParaRPr lang="es-ES" sz="1200" dirty="0">
                        <a:solidFill>
                          <a:srgbClr val="1F1F1F"/>
                        </a:solidFill>
                        <a:effectLst/>
                        <a:latin typeface="Google Sans Text"/>
                      </a:endParaRPr>
                    </a:p>
                  </a:txBody>
                  <a:tcPr marT="60960" marB="60960" anchor="ctr"/>
                </a:tc>
                <a:extLst>
                  <a:ext uri="{0D108BD9-81ED-4DB2-BD59-A6C34878D82A}">
                    <a16:rowId xmlns:a16="http://schemas.microsoft.com/office/drawing/2014/main" val="1511174683"/>
                  </a:ext>
                </a:extLst>
              </a:tr>
              <a:tr h="285783">
                <a:tc>
                  <a:txBody>
                    <a:bodyPr/>
                    <a:lstStyle/>
                    <a:p>
                      <a:pPr rtl="0">
                        <a:buNone/>
                      </a:pPr>
                      <a:r>
                        <a:rPr lang="es-ES" sz="1200" b="1" dirty="0" err="1">
                          <a:solidFill>
                            <a:srgbClr val="1F1F1F"/>
                          </a:solidFill>
                          <a:effectLst/>
                        </a:rPr>
                        <a:t>Shallow</a:t>
                      </a:r>
                      <a:r>
                        <a:rPr lang="es-ES" sz="1200" b="1" dirty="0">
                          <a:solidFill>
                            <a:srgbClr val="1F1F1F"/>
                          </a:solidFill>
                          <a:effectLst/>
                        </a:rPr>
                        <a:t> TM0</a:t>
                      </a:r>
                      <a:endParaRPr lang="es-ES" sz="1200" dirty="0">
                        <a:solidFill>
                          <a:srgbClr val="1F1F1F"/>
                        </a:solidFill>
                        <a:effectLst/>
                        <a:latin typeface="Google Sans Text"/>
                      </a:endParaRPr>
                    </a:p>
                  </a:txBody>
                  <a:tcPr marT="60960" marB="60960" anchor="ctr"/>
                </a:tc>
                <a:tc>
                  <a:txBody>
                    <a:bodyPr/>
                    <a:lstStyle/>
                    <a:p>
                      <a:pPr rtl="0">
                        <a:buNone/>
                      </a:pPr>
                      <a:r>
                        <a:rPr lang="es-ES" sz="1200" b="1">
                          <a:solidFill>
                            <a:srgbClr val="1F1F1F"/>
                          </a:solidFill>
                          <a:effectLst/>
                        </a:rPr>
                        <a:t>1.5419</a:t>
                      </a:r>
                      <a:endParaRPr lang="es-ES" sz="1200">
                        <a:solidFill>
                          <a:srgbClr val="1F1F1F"/>
                        </a:solidFill>
                        <a:effectLst/>
                        <a:latin typeface="Google Sans Text"/>
                      </a:endParaRPr>
                    </a:p>
                  </a:txBody>
                  <a:tcPr marT="60960" marB="60960" anchor="ctr"/>
                </a:tc>
                <a:tc>
                  <a:txBody>
                    <a:bodyPr/>
                    <a:lstStyle/>
                    <a:p>
                      <a:pPr rtl="0">
                        <a:buNone/>
                      </a:pPr>
                      <a:r>
                        <a:rPr lang="es-ES" sz="1200">
                          <a:solidFill>
                            <a:srgbClr val="1F1F1F"/>
                          </a:solidFill>
                          <a:effectLst/>
                        </a:rPr>
                        <a:t>1.7474</a:t>
                      </a:r>
                      <a:endParaRPr lang="es-ES" sz="1200">
                        <a:solidFill>
                          <a:srgbClr val="1F1F1F"/>
                        </a:solidFill>
                        <a:effectLst/>
                        <a:latin typeface="Google Sans Text"/>
                      </a:endParaRPr>
                    </a:p>
                  </a:txBody>
                  <a:tcPr marT="60960" marB="60960" anchor="ctr"/>
                </a:tc>
                <a:tc>
                  <a:txBody>
                    <a:bodyPr/>
                    <a:lstStyle/>
                    <a:p>
                      <a:pPr rtl="0">
                        <a:buNone/>
                      </a:pPr>
                      <a:r>
                        <a:rPr lang="es-ES" sz="1200" dirty="0">
                          <a:solidFill>
                            <a:srgbClr val="1F1F1F"/>
                          </a:solidFill>
                          <a:effectLst/>
                        </a:rPr>
                        <a:t>-1.5305e-3</a:t>
                      </a:r>
                      <a:endParaRPr lang="es-ES" sz="1200" dirty="0">
                        <a:solidFill>
                          <a:srgbClr val="1F1F1F"/>
                        </a:solidFill>
                        <a:effectLst/>
                        <a:latin typeface="Google Sans Text"/>
                      </a:endParaRPr>
                    </a:p>
                  </a:txBody>
                  <a:tcPr marT="60960" marB="60960" anchor="ctr"/>
                </a:tc>
                <a:extLst>
                  <a:ext uri="{0D108BD9-81ED-4DB2-BD59-A6C34878D82A}">
                    <a16:rowId xmlns:a16="http://schemas.microsoft.com/office/drawing/2014/main" val="1385838349"/>
                  </a:ext>
                </a:extLst>
              </a:tr>
            </a:tbl>
          </a:graphicData>
        </a:graphic>
      </p:graphicFrame>
      <p:sp>
        <p:nvSpPr>
          <p:cNvPr id="12" name="CuadroTexto 11">
            <a:extLst>
              <a:ext uri="{FF2B5EF4-FFF2-40B4-BE49-F238E27FC236}">
                <a16:creationId xmlns:a16="http://schemas.microsoft.com/office/drawing/2014/main" id="{D8790FA3-B66E-5486-5142-27D319611D59}"/>
              </a:ext>
            </a:extLst>
          </p:cNvPr>
          <p:cNvSpPr txBox="1"/>
          <p:nvPr/>
        </p:nvSpPr>
        <p:spPr>
          <a:xfrm>
            <a:off x="5437062" y="2893449"/>
            <a:ext cx="6574385" cy="2031325"/>
          </a:xfrm>
          <a:prstGeom prst="rect">
            <a:avLst/>
          </a:prstGeom>
          <a:noFill/>
        </p:spPr>
        <p:txBody>
          <a:bodyPr wrap="square" rtlCol="0">
            <a:spAutoFit/>
          </a:bodyPr>
          <a:lstStyle/>
          <a:p>
            <a:r>
              <a:rPr lang="es-ES" sz="1400" dirty="0"/>
              <a:t>Se observa que las guías </a:t>
            </a:r>
            <a:r>
              <a:rPr lang="es-ES" sz="1400" dirty="0" err="1"/>
              <a:t>Shallow</a:t>
            </a:r>
            <a:r>
              <a:rPr lang="es-ES" sz="1400" dirty="0"/>
              <a:t> presentan un índice efectivo superior a las Deep para ambas polarizaciones. La presencia del </a:t>
            </a:r>
            <a:r>
              <a:rPr lang="es-ES" sz="1400" dirty="0" err="1"/>
              <a:t>slab</a:t>
            </a:r>
            <a:r>
              <a:rPr lang="es-ES" sz="1400" dirty="0"/>
              <a:t> aporta material de alto índice lateralmente, lo que incrementa el confinamiento efectivo del modo.</a:t>
            </a:r>
          </a:p>
          <a:p>
            <a:r>
              <a:rPr lang="es-ES" sz="1400" dirty="0"/>
              <a:t>En todos los casos, el modo TE0 tiene un </a:t>
            </a:r>
            <a:r>
              <a:rPr lang="es-ES" sz="1400" dirty="0" err="1"/>
              <a:t>neff</a:t>
            </a:r>
            <a:r>
              <a:rPr lang="es-ES" sz="1400" dirty="0"/>
              <a:t> mayor que el TM0. Esto se debe a la geometría de la guía (1.2 </a:t>
            </a:r>
            <a:r>
              <a:rPr lang="es-ES" sz="1400" dirty="0" err="1"/>
              <a:t>um</a:t>
            </a:r>
            <a:r>
              <a:rPr lang="es-ES" sz="1400" dirty="0"/>
              <a:t> de ancho y 0.3 </a:t>
            </a:r>
            <a:r>
              <a:rPr lang="es-ES" sz="1400" dirty="0" err="1"/>
              <a:t>um</a:t>
            </a:r>
            <a:r>
              <a:rPr lang="es-ES" sz="1400" dirty="0"/>
              <a:t> de alto), que favorece el confinamiento de campos eléctricos horizontales.</a:t>
            </a:r>
          </a:p>
          <a:p>
            <a:r>
              <a:rPr lang="es-ES" sz="1400" dirty="0"/>
              <a:t>Los valores de dispersión D son negativos en todos los escenarios. Esto implica que las componentes de mayor frecuencia viajan a una velocidad de grupo menor que las componentes de menor frecuencia.</a:t>
            </a:r>
          </a:p>
        </p:txBody>
      </p:sp>
    </p:spTree>
    <p:extLst>
      <p:ext uri="{BB962C8B-B14F-4D97-AF65-F5344CB8AC3E}">
        <p14:creationId xmlns:p14="http://schemas.microsoft.com/office/powerpoint/2010/main" val="236054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37F3D-2978-06AC-042B-59EB825AE1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8F116E4-9C55-D850-401E-8FF7950A3D5E}"/>
              </a:ext>
            </a:extLst>
          </p:cNvPr>
          <p:cNvSpPr txBox="1">
            <a:spLocks noGrp="1"/>
          </p:cNvSpPr>
          <p:nvPr>
            <p:ph type="title"/>
          </p:nvPr>
        </p:nvSpPr>
        <p:spPr>
          <a:xfrm>
            <a:off x="609441" y="17464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BFC18EDF-2983-C0FF-8A92-BA9F9826D4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A1791F2-10DF-1831-58F6-3EE334576999}"/>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E197FB1A-719D-FD83-73D6-7B273E4D8872}"/>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BC1F4382-9F8A-A03D-BA04-75D6366A78D4}"/>
                  </a:ext>
                </a:extLst>
              </p:cNvPr>
              <p:cNvSpPr txBox="1"/>
              <p:nvPr/>
            </p:nvSpPr>
            <p:spPr>
              <a:xfrm>
                <a:off x="609441" y="4935716"/>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BC1F4382-9F8A-A03D-BA04-75D6366A78D4}"/>
                  </a:ext>
                </a:extLst>
              </p:cNvPr>
              <p:cNvSpPr txBox="1">
                <a:spLocks noRot="1" noChangeAspect="1" noMove="1" noResize="1" noEditPoints="1" noAdjustHandles="1" noChangeArrowheads="1" noChangeShapeType="1" noTextEdit="1"/>
              </p:cNvSpPr>
              <p:nvPr/>
            </p:nvSpPr>
            <p:spPr>
              <a:xfrm>
                <a:off x="609441" y="4935716"/>
                <a:ext cx="11198542" cy="1361911"/>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pic>
        <p:nvPicPr>
          <p:cNvPr id="7" name="Imagen 6">
            <a:extLst>
              <a:ext uri="{FF2B5EF4-FFF2-40B4-BE49-F238E27FC236}">
                <a16:creationId xmlns:a16="http://schemas.microsoft.com/office/drawing/2014/main" id="{B39DBC97-C127-5241-8A2A-1F6A721EA5DD}"/>
              </a:ext>
            </a:extLst>
          </p:cNvPr>
          <p:cNvPicPr>
            <a:picLocks noChangeAspect="1"/>
          </p:cNvPicPr>
          <p:nvPr/>
        </p:nvPicPr>
        <p:blipFill>
          <a:blip r:embed="rId6"/>
          <a:stretch>
            <a:fillRect/>
          </a:stretch>
        </p:blipFill>
        <p:spPr>
          <a:xfrm>
            <a:off x="76200" y="1302795"/>
            <a:ext cx="5351531" cy="3423728"/>
          </a:xfrm>
          <a:prstGeom prst="rect">
            <a:avLst/>
          </a:prstGeom>
        </p:spPr>
      </p:pic>
      <p:sp>
        <p:nvSpPr>
          <p:cNvPr id="9" name="Rectangle 2">
            <a:extLst>
              <a:ext uri="{FF2B5EF4-FFF2-40B4-BE49-F238E27FC236}">
                <a16:creationId xmlns:a16="http://schemas.microsoft.com/office/drawing/2014/main" id="{317CCB00-0164-854D-D2E3-315C56D375D5}"/>
              </a:ext>
            </a:extLst>
          </p:cNvPr>
          <p:cNvSpPr>
            <a:spLocks noChangeArrowheads="1"/>
          </p:cNvSpPr>
          <p:nvPr/>
        </p:nvSpPr>
        <p:spPr bwMode="auto">
          <a:xfrm flipH="1">
            <a:off x="5594974" y="1365331"/>
            <a:ext cx="6008877"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200" b="1" i="0" u="none" strike="noStrike" cap="none" normalizeH="0" baseline="0" dirty="0">
                <a:ln>
                  <a:noFill/>
                </a:ln>
                <a:solidFill>
                  <a:schemeClr val="tx1"/>
                </a:solidFill>
                <a:effectLst/>
              </a:rPr>
              <a:t>Análisis de </a:t>
            </a:r>
            <a:r>
              <a:rPr lang="es-ES" altLang="es-ES" sz="1200" b="1" dirty="0" err="1"/>
              <a:t>b</a:t>
            </a:r>
            <a:r>
              <a:rPr kumimoji="0" lang="es-ES" altLang="es-ES" sz="1200" b="1" i="0" u="none" strike="noStrike" cap="none" normalizeH="0" baseline="0" dirty="0" err="1">
                <a:ln>
                  <a:noFill/>
                </a:ln>
                <a:solidFill>
                  <a:schemeClr val="tx1"/>
                </a:solidFill>
                <a:effectLst/>
              </a:rPr>
              <a:t>irefringencia</a:t>
            </a:r>
            <a:r>
              <a:rPr kumimoji="0" lang="es-ES" altLang="es-ES" sz="1200" b="1" i="0" u="none" strike="noStrike" cap="none" normalizeH="0" baseline="0" dirty="0">
                <a:ln>
                  <a:noFill/>
                </a:ln>
                <a:solidFill>
                  <a:schemeClr val="tx1"/>
                </a:solidFill>
                <a:effectLst/>
              </a:rPr>
              <a:t> y confinamiento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200" b="1" i="0" u="none" strike="noStrike" cap="none" normalizeH="0" baseline="0" dirty="0">
              <a:ln>
                <a:noFill/>
              </a:ln>
              <a:solidFill>
                <a:schemeClr val="tx1"/>
              </a:solidFill>
              <a:effectLst/>
            </a:endParaRPr>
          </a:p>
          <a:p>
            <a:pPr lvl="0" eaLnBrk="0" fontAlgn="base" hangingPunct="0">
              <a:spcBef>
                <a:spcPct val="0"/>
              </a:spcBef>
              <a:spcAft>
                <a:spcPct val="0"/>
              </a:spcAft>
            </a:pPr>
            <a:r>
              <a:rPr kumimoji="0" lang="es-ES" altLang="es-ES" sz="1200" i="0" u="none" strike="noStrike" cap="none" normalizeH="0" baseline="0" dirty="0">
                <a:ln>
                  <a:noFill/>
                </a:ln>
                <a:solidFill>
                  <a:schemeClr val="tx1"/>
                </a:solidFill>
                <a:effectLst/>
              </a:rPr>
              <a:t>Se observa una marcada </a:t>
            </a:r>
            <a:r>
              <a:rPr kumimoji="0" lang="es-ES" altLang="es-ES" sz="1200" i="0" u="none" strike="noStrike" cap="none" normalizeH="0" baseline="0" dirty="0" err="1">
                <a:ln>
                  <a:noFill/>
                </a:ln>
                <a:solidFill>
                  <a:schemeClr val="tx1"/>
                </a:solidFill>
                <a:effectLst/>
              </a:rPr>
              <a:t>birefringencia</a:t>
            </a:r>
            <a:r>
              <a:rPr kumimoji="0" lang="es-ES" altLang="es-ES" sz="1200" i="0" u="none" strike="noStrike" cap="none" normalizeH="0" baseline="0" dirty="0">
                <a:ln>
                  <a:noFill/>
                </a:ln>
                <a:solidFill>
                  <a:schemeClr val="tx1"/>
                </a:solidFill>
                <a:effectLst/>
              </a:rPr>
              <a:t> modal, donde el índice efectivo del modo TE0 es superior al del TM0 en todas las configuraciones. Esto se debe a la geometría asimétrica de la guía (</a:t>
            </a:r>
            <a:r>
              <a:rPr lang="es-ES" sz="1200" dirty="0"/>
              <a:t>1.2 </a:t>
            </a:r>
            <a:r>
              <a:rPr lang="es-ES" sz="1200" dirty="0" err="1"/>
              <a:t>um</a:t>
            </a:r>
            <a:r>
              <a:rPr lang="es-ES" sz="1200" dirty="0"/>
              <a:t> de ancho y 0.3 </a:t>
            </a:r>
            <a:r>
              <a:rPr lang="es-ES" sz="1200" dirty="0" err="1"/>
              <a:t>um</a:t>
            </a:r>
            <a:r>
              <a:rPr lang="es-ES" sz="1200" dirty="0"/>
              <a:t> de alto), </a:t>
            </a:r>
            <a:r>
              <a:rPr kumimoji="0" lang="es-ES" altLang="es-ES" sz="1200" i="0" u="none" strike="noStrike" cap="none" normalizeH="0" baseline="0" dirty="0">
                <a:ln>
                  <a:noFill/>
                </a:ln>
                <a:solidFill>
                  <a:schemeClr val="tx1"/>
                </a:solidFill>
                <a:effectLst/>
              </a:rPr>
              <a:t>que favorece el confinamiento del campo eléctrico en el plano horizontal (TE). Asimismo, las guías </a:t>
            </a:r>
            <a:r>
              <a:rPr kumimoji="0" lang="es-ES" altLang="es-ES" sz="1200" i="0" u="none" strike="noStrike" cap="none" normalizeH="0" baseline="0" dirty="0" err="1">
                <a:ln>
                  <a:noFill/>
                </a:ln>
                <a:solidFill>
                  <a:schemeClr val="tx1"/>
                </a:solidFill>
                <a:effectLst/>
              </a:rPr>
              <a:t>Shallow</a:t>
            </a:r>
            <a:r>
              <a:rPr kumimoji="0" lang="es-ES" altLang="es-ES" sz="1200" i="0" u="none" strike="noStrike" cap="none" normalizeH="0" baseline="0" dirty="0">
                <a:ln>
                  <a:noFill/>
                </a:ln>
                <a:solidFill>
                  <a:schemeClr val="tx1"/>
                </a:solidFill>
                <a:effectLst/>
              </a:rPr>
              <a:t> presentan un </a:t>
            </a:r>
            <a:r>
              <a:rPr kumimoji="0" lang="es-ES" altLang="es-ES" sz="1200" i="0" u="none" strike="noStrike" cap="none" normalizeH="0" baseline="0" dirty="0" err="1">
                <a:ln>
                  <a:noFill/>
                </a:ln>
                <a:solidFill>
                  <a:schemeClr val="tx1"/>
                </a:solidFill>
                <a:effectLst/>
              </a:rPr>
              <a:t>neff</a:t>
            </a:r>
            <a:r>
              <a:rPr kumimoji="0" lang="es-ES" altLang="es-ES" sz="1200" i="0" u="none" strike="noStrike" cap="none" normalizeH="0" baseline="0" dirty="0">
                <a:ln>
                  <a:noFill/>
                </a:ln>
                <a:solidFill>
                  <a:schemeClr val="tx1"/>
                </a:solidFill>
                <a:effectLst/>
              </a:rPr>
              <a:t> mayor que las Deep debido a que el </a:t>
            </a:r>
            <a:r>
              <a:rPr kumimoji="0" lang="es-ES" altLang="es-ES" sz="1200" u="none" strike="noStrike" cap="none" normalizeH="0" baseline="0" dirty="0" err="1">
                <a:ln>
                  <a:noFill/>
                </a:ln>
                <a:solidFill>
                  <a:schemeClr val="tx1"/>
                </a:solidFill>
                <a:effectLst/>
              </a:rPr>
              <a:t>slab</a:t>
            </a:r>
            <a:r>
              <a:rPr kumimoji="0" lang="es-ES" altLang="es-ES" sz="1200" i="0" u="none" strike="noStrike" cap="none" normalizeH="0" baseline="0" dirty="0">
                <a:ln>
                  <a:noFill/>
                </a:ln>
                <a:solidFill>
                  <a:schemeClr val="tx1"/>
                </a:solidFill>
                <a:effectLst/>
              </a:rPr>
              <a:t> lateral de 150 nm actúa como una extensión del núcleo, incrementando el volumen de material de alto índice y reduciendo la fuga de campo hacia el </a:t>
            </a:r>
            <a:r>
              <a:rPr kumimoji="0" lang="es-ES" altLang="es-ES" sz="1200" i="0" u="none" strike="noStrike" cap="none" normalizeH="0" baseline="0" dirty="0" err="1">
                <a:ln>
                  <a:noFill/>
                </a:ln>
                <a:solidFill>
                  <a:schemeClr val="tx1"/>
                </a:solidFill>
                <a:effectLst/>
              </a:rPr>
              <a:t>cladding</a:t>
            </a:r>
            <a:r>
              <a:rPr kumimoji="0" lang="es-ES" altLang="es-ES" sz="1800" i="0" u="none" strike="noStrike" cap="none" normalizeH="0" baseline="0" dirty="0">
                <a:ln>
                  <a:noFill/>
                </a:ln>
                <a:solidFill>
                  <a:schemeClr val="tx1"/>
                </a:solidFill>
                <a:effectLst/>
              </a:rPr>
              <a:t>.</a:t>
            </a:r>
          </a:p>
        </p:txBody>
      </p:sp>
      <p:sp>
        <p:nvSpPr>
          <p:cNvPr id="10" name="Rectangle 3">
            <a:extLst>
              <a:ext uri="{FF2B5EF4-FFF2-40B4-BE49-F238E27FC236}">
                <a16:creationId xmlns:a16="http://schemas.microsoft.com/office/drawing/2014/main" id="{6AA07C19-78C2-8FAB-A627-3D96412D41D4}"/>
              </a:ext>
            </a:extLst>
          </p:cNvPr>
          <p:cNvSpPr>
            <a:spLocks noChangeArrowheads="1"/>
          </p:cNvSpPr>
          <p:nvPr/>
        </p:nvSpPr>
        <p:spPr bwMode="auto">
          <a:xfrm>
            <a:off x="5594974" y="3104357"/>
            <a:ext cx="6176120"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1200" b="1" i="0" u="none" strike="noStrike" cap="none" normalizeH="0" baseline="0" dirty="0">
                <a:ln>
                  <a:noFill/>
                </a:ln>
                <a:solidFill>
                  <a:schemeClr val="tx1"/>
                </a:solidFill>
                <a:effectLst/>
              </a:rPr>
              <a:t>Análisis del modelo </a:t>
            </a:r>
            <a:r>
              <a:rPr lang="es-ES" altLang="es-ES" sz="1200" b="1" dirty="0"/>
              <a:t>c</a:t>
            </a:r>
            <a:r>
              <a:rPr kumimoji="0" lang="es-ES" altLang="es-ES" sz="1200" b="1" i="0" u="none" strike="noStrike" cap="none" normalizeH="0" baseline="0" dirty="0">
                <a:ln>
                  <a:noFill/>
                </a:ln>
                <a:solidFill>
                  <a:schemeClr val="tx1"/>
                </a:solidFill>
                <a:effectLst/>
              </a:rPr>
              <a:t>ompacto y dispersión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i="0" u="none" strike="noStrike" cap="none" normalizeH="0" baseline="0" dirty="0">
                <a:ln>
                  <a:noFill/>
                </a:ln>
                <a:solidFill>
                  <a:schemeClr val="tx1"/>
                </a:solidFill>
                <a:effectLst/>
              </a:rPr>
              <a:t>El índice de grupo (ng) es notablemente superior al índice de fase (</a:t>
            </a:r>
            <a:r>
              <a:rPr kumimoji="0" lang="es-ES" altLang="es-ES" sz="1200" i="0" u="none" strike="noStrike" cap="none" normalizeH="0" baseline="0" dirty="0" err="1">
                <a:ln>
                  <a:noFill/>
                </a:ln>
                <a:solidFill>
                  <a:schemeClr val="tx1"/>
                </a:solidFill>
                <a:effectLst/>
              </a:rPr>
              <a:t>neff</a:t>
            </a:r>
            <a:r>
              <a:rPr kumimoji="0" lang="es-ES" altLang="es-ES" sz="1200" i="0" u="none" strike="noStrike" cap="none" normalizeH="0" baseline="0" dirty="0">
                <a:ln>
                  <a:noFill/>
                </a:ln>
                <a:solidFill>
                  <a:schemeClr val="tx1"/>
                </a:solidFill>
                <a:effectLst/>
              </a:rPr>
              <a:t>), lo que evidencia la contribución de la dispersión estructural a la velocidad de grupo. Los valores negativos del parámetro D indican que la guía opera en el régimen de dispersión normal, donde las longitudes de onda más cortas (frecuencias más altas) viajan a una velocidad de grupo menor que las largas. La guía Deep TM0 es la que presenta una mayor dispersión relativa (D = -1.59 e-3 s2/m), lo que sugiere una mayor sensibilidad del confinamiento vertical a los cambios de longitud de onda.</a:t>
            </a:r>
          </a:p>
        </p:txBody>
      </p:sp>
    </p:spTree>
    <p:extLst>
      <p:ext uri="{BB962C8B-B14F-4D97-AF65-F5344CB8AC3E}">
        <p14:creationId xmlns:p14="http://schemas.microsoft.com/office/powerpoint/2010/main" val="3559788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946213"/>
            <a:ext cx="7391559"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Al </a:t>
            </a:r>
            <a:r>
              <a:rPr lang="en-US" sz="1200" dirty="0" err="1">
                <a:latin typeface="Arial" panose="020B0604020202020204" pitchFamily="34" charset="0"/>
                <a:cs typeface="Arial" panose="020B0604020202020204" pitchFamily="34" charset="0"/>
              </a:rPr>
              <a:t>analizar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puntos,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 25 um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límite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(0,1343 dB). El primer radio de la </a:t>
            </a:r>
            <a:r>
              <a:rPr lang="en-US" sz="1200" dirty="0" err="1">
                <a:latin typeface="Arial" panose="020B0604020202020204" pitchFamily="34" charset="0"/>
                <a:cs typeface="Arial" panose="020B0604020202020204" pitchFamily="34" charset="0"/>
              </a:rPr>
              <a:t>serie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garantiza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operación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segura</a:t>
            </a:r>
            <a:r>
              <a:rPr lang="en-US" sz="1200" dirty="0">
                <a:latin typeface="Arial" panose="020B0604020202020204" pitchFamily="34" charset="0"/>
                <a:cs typeface="Arial" panose="020B0604020202020204" pitchFamily="34" charset="0"/>
              </a:rPr>
              <a:t> es 50 um. No obstante, </a:t>
            </a:r>
            <a:r>
              <a:rPr lang="en-US" sz="1200" dirty="0" err="1">
                <a:latin typeface="Arial" panose="020B0604020202020204" pitchFamily="34" charset="0"/>
                <a:cs typeface="Arial" panose="020B0604020202020204" pitchFamily="34" charset="0"/>
              </a:rPr>
              <a:t>observando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radio de corte real se </a:t>
            </a:r>
            <a:r>
              <a:rPr lang="en-US" sz="1200" dirty="0" err="1">
                <a:latin typeface="Arial" panose="020B0604020202020204" pitchFamily="34" charset="0"/>
                <a:cs typeface="Arial" panose="020B0604020202020204" pitchFamily="34" charset="0"/>
              </a:rPr>
              <a:t>sitúa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cerca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30 um.</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a:extLst>
              <a:ext uri="{FF2B5EF4-FFF2-40B4-BE49-F238E27FC236}">
                <a16:creationId xmlns:a16="http://schemas.microsoft.com/office/drawing/2014/main" id="{B3A223FA-C0D0-739A-88FC-ADEEDAF77FDF}"/>
              </a:ext>
            </a:extLst>
          </p:cNvPr>
          <p:cNvPicPr>
            <a:picLocks noChangeAspect="1"/>
          </p:cNvPicPr>
          <p:nvPr/>
        </p:nvPicPr>
        <p:blipFill>
          <a:blip r:embed="rId5"/>
          <a:stretch>
            <a:fillRect/>
          </a:stretch>
        </p:blipFill>
        <p:spPr>
          <a:xfrm>
            <a:off x="668457" y="1523374"/>
            <a:ext cx="5514548" cy="3096025"/>
          </a:xfrm>
          <a:prstGeom prst="rect">
            <a:avLst/>
          </a:prstGeom>
        </p:spPr>
      </p:pic>
      <p:pic>
        <p:nvPicPr>
          <p:cNvPr id="9" name="Imagen 8">
            <a:extLst>
              <a:ext uri="{FF2B5EF4-FFF2-40B4-BE49-F238E27FC236}">
                <a16:creationId xmlns:a16="http://schemas.microsoft.com/office/drawing/2014/main" id="{40D5B561-E42D-8559-068A-63F72C90021B}"/>
              </a:ext>
            </a:extLst>
          </p:cNvPr>
          <p:cNvPicPr>
            <a:picLocks noChangeAspect="1"/>
          </p:cNvPicPr>
          <p:nvPr/>
        </p:nvPicPr>
        <p:blipFill>
          <a:blip r:embed="rId6"/>
          <a:stretch>
            <a:fillRect/>
          </a:stretch>
        </p:blipFill>
        <p:spPr>
          <a:xfrm>
            <a:off x="6190311" y="1595942"/>
            <a:ext cx="5392248" cy="2918944"/>
          </a:xfrm>
          <a:prstGeom prst="rect">
            <a:avLst/>
          </a:prstGeom>
        </p:spPr>
      </p:pic>
      <p:pic>
        <p:nvPicPr>
          <p:cNvPr id="11" name="Imagen 10">
            <a:extLst>
              <a:ext uri="{FF2B5EF4-FFF2-40B4-BE49-F238E27FC236}">
                <a16:creationId xmlns:a16="http://schemas.microsoft.com/office/drawing/2014/main" id="{041802EF-6353-324C-3A9E-E34258F5EF1D}"/>
              </a:ext>
            </a:extLst>
          </p:cNvPr>
          <p:cNvPicPr>
            <a:picLocks noChangeAspect="1"/>
          </p:cNvPicPr>
          <p:nvPr/>
        </p:nvPicPr>
        <p:blipFill>
          <a:blip r:embed="rId7"/>
          <a:stretch>
            <a:fillRect/>
          </a:stretch>
        </p:blipFill>
        <p:spPr>
          <a:xfrm>
            <a:off x="8398355" y="4884468"/>
            <a:ext cx="3281855" cy="1447456"/>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5EB2E-961F-6A05-179D-F808DA9160E5}"/>
              </a:ext>
            </a:extLst>
          </p:cNvPr>
          <p:cNvSpPr>
            <a:spLocks noGrp="1"/>
          </p:cNvSpPr>
          <p:nvPr>
            <p:ph type="title"/>
          </p:nvPr>
        </p:nvSpPr>
        <p:spPr/>
        <p:txBody>
          <a:bodyPr/>
          <a:lstStyle/>
          <a:p>
            <a:r>
              <a:rPr lang="es-ES" dirty="0"/>
              <a:t>EXTRA</a:t>
            </a:r>
          </a:p>
        </p:txBody>
      </p:sp>
      <p:sp>
        <p:nvSpPr>
          <p:cNvPr id="3" name="Marcador de texto 2">
            <a:extLst>
              <a:ext uri="{FF2B5EF4-FFF2-40B4-BE49-F238E27FC236}">
                <a16:creationId xmlns:a16="http://schemas.microsoft.com/office/drawing/2014/main" id="{4E57FEF6-08FC-A336-79EC-16A9B117096F}"/>
              </a:ext>
            </a:extLst>
          </p:cNvPr>
          <p:cNvSpPr>
            <a:spLocks noGrp="1"/>
          </p:cNvSpPr>
          <p:nvPr>
            <p:ph type="body" idx="1"/>
          </p:nvPr>
        </p:nvSpPr>
        <p:spPr>
          <a:xfrm>
            <a:off x="582341" y="536615"/>
            <a:ext cx="10972800" cy="2492990"/>
          </a:xfrm>
        </p:spPr>
        <p:txBody>
          <a:bodyPr/>
          <a:lstStyle/>
          <a:p>
            <a:r>
              <a:rPr lang="es-ES" sz="1600" dirty="0"/>
              <a:t>En este apartado se extiende el análisis a la plataforma SOI, sustituyendo el núcleo de Silicio por Silicio monocristalino y ajustando las dimensiones a 500 nm de ancho y 220 nm de espesor.</a:t>
            </a:r>
          </a:p>
          <a:p>
            <a:r>
              <a:rPr lang="es-ES" sz="1600" dirty="0"/>
              <a:t>La principal diferencia se encuentra en el índice de refracción. El </a:t>
            </a:r>
            <a:r>
              <a:rPr lang="es-ES" sz="1600" dirty="0" err="1"/>
              <a:t>SiN</a:t>
            </a:r>
            <a:r>
              <a:rPr lang="es-ES" sz="1600" dirty="0"/>
              <a:t> tiene un índice de aproximadamente 2, y el Silicio tiene un índice mucho mayor, de 3,47 a 1,55 </a:t>
            </a:r>
            <a:r>
              <a:rPr lang="es-ES" sz="1600" dirty="0" err="1"/>
              <a:t>um</a:t>
            </a:r>
            <a:r>
              <a:rPr lang="es-ES" sz="1600" dirty="0"/>
              <a:t>.</a:t>
            </a:r>
          </a:p>
          <a:p>
            <a:r>
              <a:rPr lang="es-ES" sz="1600" dirty="0"/>
              <a:t>Debido al alto contraste de índice, el modo fundamental en la guía SOI tiene un </a:t>
            </a:r>
            <a:r>
              <a:rPr lang="es-ES" sz="1600" dirty="0" err="1"/>
              <a:t>neff</a:t>
            </a:r>
            <a:r>
              <a:rPr lang="es-ES" sz="1600" dirty="0"/>
              <a:t> de 2,44, un valor muy superior al del Nitruro (</a:t>
            </a:r>
            <a:r>
              <a:rPr lang="es-ES" sz="1600" dirty="0" err="1"/>
              <a:t>aprox</a:t>
            </a:r>
            <a:r>
              <a:rPr lang="es-ES" sz="1600" dirty="0"/>
              <a:t> 1,60). Esto indica que la luz viaja mucho más confinada en el núcleo.</a:t>
            </a:r>
          </a:p>
          <a:p>
            <a:r>
              <a:rPr lang="es-ES" sz="1600" dirty="0"/>
              <a:t>El resultado más llamativo de este ejercicio es la reducción del radio seguro. En </a:t>
            </a:r>
            <a:r>
              <a:rPr lang="es-ES" sz="1600" dirty="0" err="1"/>
              <a:t>SiN</a:t>
            </a:r>
            <a:r>
              <a:rPr lang="es-ES" sz="1600" dirty="0"/>
              <a:t> (Deep), las pérdidas por radiación obligan a utilizar radios de al menos 50 </a:t>
            </a:r>
            <a:r>
              <a:rPr lang="es-ES" sz="1600" dirty="0" err="1"/>
              <a:t>um</a:t>
            </a:r>
            <a:r>
              <a:rPr lang="es-ES" sz="1600" dirty="0"/>
              <a:t> para mantenerse por debajo de 0,1 dB/90º. En SOI, el alto confinamiento permite reducir este radio hasta los 5 </a:t>
            </a:r>
            <a:r>
              <a:rPr lang="es-ES" sz="1600" dirty="0" err="1"/>
              <a:t>um</a:t>
            </a:r>
            <a:r>
              <a:rPr lang="es-ES" sz="1600" dirty="0"/>
              <a:t>. Esta diferencia hace que el Silicio sea ideal para crear circuitos fotónicos muy compactos y de alta complejidad.</a:t>
            </a:r>
          </a:p>
          <a:p>
            <a:endParaRPr lang="es-ES" sz="1600" dirty="0"/>
          </a:p>
        </p:txBody>
      </p:sp>
      <p:sp>
        <p:nvSpPr>
          <p:cNvPr id="4" name="Marcador de pie de página 3">
            <a:extLst>
              <a:ext uri="{FF2B5EF4-FFF2-40B4-BE49-F238E27FC236}">
                <a16:creationId xmlns:a16="http://schemas.microsoft.com/office/drawing/2014/main" id="{EE5EFF48-DAD3-94C4-7454-AFE9DCE156E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6B9D9F08-7AB3-9093-F6C3-D101D0320571}"/>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9" name="Imagen 8">
            <a:extLst>
              <a:ext uri="{FF2B5EF4-FFF2-40B4-BE49-F238E27FC236}">
                <a16:creationId xmlns:a16="http://schemas.microsoft.com/office/drawing/2014/main" id="{769B03E8-32A4-05FC-F3B1-BA6719EF27C7}"/>
              </a:ext>
            </a:extLst>
          </p:cNvPr>
          <p:cNvPicPr>
            <a:picLocks noChangeAspect="1"/>
          </p:cNvPicPr>
          <p:nvPr/>
        </p:nvPicPr>
        <p:blipFill>
          <a:blip r:embed="rId2"/>
          <a:stretch>
            <a:fillRect/>
          </a:stretch>
        </p:blipFill>
        <p:spPr>
          <a:xfrm>
            <a:off x="6086475" y="2895601"/>
            <a:ext cx="6012730" cy="3500268"/>
          </a:xfrm>
          <a:prstGeom prst="rect">
            <a:avLst/>
          </a:prstGeom>
        </p:spPr>
      </p:pic>
      <p:sp>
        <p:nvSpPr>
          <p:cNvPr id="11" name="CuadroTexto 10">
            <a:extLst>
              <a:ext uri="{FF2B5EF4-FFF2-40B4-BE49-F238E27FC236}">
                <a16:creationId xmlns:a16="http://schemas.microsoft.com/office/drawing/2014/main" id="{F9D32B90-73ED-6706-1C51-8A09F4B6BA4C}"/>
              </a:ext>
            </a:extLst>
          </p:cNvPr>
          <p:cNvSpPr txBox="1"/>
          <p:nvPr/>
        </p:nvSpPr>
        <p:spPr>
          <a:xfrm>
            <a:off x="795202" y="6032714"/>
            <a:ext cx="4623707"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s-ES" b="0" i="0" dirty="0">
                <a:effectLst/>
                <a:latin typeface="Consolas" panose="020B0609020204030204" pitchFamily="49" charset="0"/>
              </a:rPr>
              <a:t>El radio seguro para SOI es: 5.0 </a:t>
            </a:r>
            <a:r>
              <a:rPr lang="es-ES" b="0" i="0" dirty="0" err="1">
                <a:effectLst/>
                <a:latin typeface="Consolas" panose="020B0609020204030204" pitchFamily="49" charset="0"/>
              </a:rPr>
              <a:t>um</a:t>
            </a:r>
            <a:endParaRPr lang="es-ES" dirty="0"/>
          </a:p>
        </p:txBody>
      </p:sp>
      <p:pic>
        <p:nvPicPr>
          <p:cNvPr id="13" name="Imagen 12">
            <a:extLst>
              <a:ext uri="{FF2B5EF4-FFF2-40B4-BE49-F238E27FC236}">
                <a16:creationId xmlns:a16="http://schemas.microsoft.com/office/drawing/2014/main" id="{87A9B034-6B52-05C3-99C3-51538213131D}"/>
              </a:ext>
            </a:extLst>
          </p:cNvPr>
          <p:cNvPicPr>
            <a:picLocks noChangeAspect="1"/>
          </p:cNvPicPr>
          <p:nvPr/>
        </p:nvPicPr>
        <p:blipFill>
          <a:blip r:embed="rId3"/>
          <a:stretch>
            <a:fillRect/>
          </a:stretch>
        </p:blipFill>
        <p:spPr>
          <a:xfrm>
            <a:off x="544241" y="2755078"/>
            <a:ext cx="5524500" cy="3222625"/>
          </a:xfrm>
          <a:prstGeom prst="rect">
            <a:avLst/>
          </a:prstGeom>
        </p:spPr>
      </p:pic>
    </p:spTree>
    <p:extLst>
      <p:ext uri="{BB962C8B-B14F-4D97-AF65-F5344CB8AC3E}">
        <p14:creationId xmlns:p14="http://schemas.microsoft.com/office/powerpoint/2010/main" val="1837753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1538</TotalTime>
  <Words>2123</Words>
  <Application>Microsoft Office PowerPoint</Application>
  <PresentationFormat>Panorámica</PresentationFormat>
  <Paragraphs>189</Paragraphs>
  <Slides>14</Slides>
  <Notes>6</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14</vt:i4>
      </vt:variant>
    </vt:vector>
  </HeadingPairs>
  <TitlesOfParts>
    <vt:vector size="24" baseType="lpstr">
      <vt:lpstr>Aptos</vt:lpstr>
      <vt:lpstr>Arial</vt:lpstr>
      <vt:lpstr>Calibri</vt:lpstr>
      <vt:lpstr>Cambria Math</vt:lpstr>
      <vt:lpstr>Consolas</vt:lpstr>
      <vt:lpstr>Google Sans Text</vt:lpstr>
      <vt:lpstr>Lucida Sans</vt:lpstr>
      <vt:lpstr>Times New Roman</vt:lpstr>
      <vt:lpstr>Wingdings</vt:lpstr>
      <vt:lpstr>Office Theme</vt:lpstr>
      <vt:lpstr>Presentación de PowerPoint</vt:lpstr>
      <vt:lpstr>Instructions General</vt:lpstr>
      <vt:lpstr>Learning outcome #1 – Effective index of a waveguide </vt:lpstr>
      <vt:lpstr>Presentación de PowerPoint</vt:lpstr>
      <vt:lpstr>Presentación de PowerPoint</vt:lpstr>
      <vt:lpstr>Presentación de PowerPoint</vt:lpstr>
      <vt:lpstr>Presentación de PowerPoint</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Elena Fructuoso Valenti</cp:lastModifiedBy>
  <cp:revision>21</cp:revision>
  <dcterms:created xsi:type="dcterms:W3CDTF">2025-01-27T02:46:57Z</dcterms:created>
  <dcterms:modified xsi:type="dcterms:W3CDTF">2026-03-10T12:23:22Z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